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Dumondi Condensed Heavy" charset="1" panose="00000000000000000000"/>
      <p:regular r:id="rId19"/>
    </p:embeddedFont>
    <p:embeddedFont>
      <p:font typeface="Dumondi Condensed Bold Italics" charset="1" panose="00000000000000000000"/>
      <p:regular r:id="rId20"/>
    </p:embeddedFont>
    <p:embeddedFont>
      <p:font typeface="Dumondi Condensed" charset="1" panose="00000000000000000000"/>
      <p:regular r:id="rId21"/>
    </p:embeddedFont>
    <p:embeddedFont>
      <p:font typeface="Dumondi Condensed Bold" charset="1" panose="00000000000000000000"/>
      <p:regular r:id="rId22"/>
    </p:embeddedFont>
    <p:embeddedFont>
      <p:font typeface="Canva Sans Bold" charset="1" panose="020B0803030501040103"/>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20" Target="../media/image31.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TextBox 2" id="2"/>
          <p:cNvSpPr txBox="true"/>
          <p:nvPr/>
        </p:nvSpPr>
        <p:spPr>
          <a:xfrm rot="0">
            <a:off x="3884463" y="4123256"/>
            <a:ext cx="10800497" cy="2533650"/>
          </a:xfrm>
          <a:prstGeom prst="rect">
            <a:avLst/>
          </a:prstGeom>
        </p:spPr>
        <p:txBody>
          <a:bodyPr anchor="t" rtlCol="false" tIns="0" lIns="0" bIns="0" rIns="0">
            <a:spAutoFit/>
          </a:bodyPr>
          <a:lstStyle/>
          <a:p>
            <a:pPr algn="ctr" marL="0" indent="0" lvl="0">
              <a:lnSpc>
                <a:spcPts val="6600"/>
              </a:lnSpc>
              <a:spcBef>
                <a:spcPct val="0"/>
              </a:spcBef>
            </a:pPr>
            <a:r>
              <a:rPr lang="en-US" b="true" sz="6000">
                <a:solidFill>
                  <a:srgbClr val="05061C"/>
                </a:solidFill>
                <a:latin typeface="Dumondi Condensed Heavy"/>
                <a:ea typeface="Dumondi Condensed Heavy"/>
                <a:cs typeface="Dumondi Condensed Heavy"/>
                <a:sym typeface="Dumondi Condensed Heavy"/>
              </a:rPr>
              <a:t>BUSCADOR SEMÁNTICO SOBRE TEXTOS PROPIOS, GENERANDO LOS EMBEDDINGS LOCALMENTE, SIN BACKEND NI CUENTA.</a:t>
            </a:r>
          </a:p>
        </p:txBody>
      </p:sp>
      <p:sp>
        <p:nvSpPr>
          <p:cNvPr name="TextBox 3" id="3"/>
          <p:cNvSpPr txBox="true"/>
          <p:nvPr/>
        </p:nvSpPr>
        <p:spPr>
          <a:xfrm rot="0">
            <a:off x="2242154" y="7528742"/>
            <a:ext cx="13803692" cy="428625"/>
          </a:xfrm>
          <a:prstGeom prst="rect">
            <a:avLst/>
          </a:prstGeom>
        </p:spPr>
        <p:txBody>
          <a:bodyPr anchor="t" rtlCol="false" tIns="0" lIns="0" bIns="0" rIns="0">
            <a:spAutoFit/>
          </a:bodyPr>
          <a:lstStyle/>
          <a:p>
            <a:pPr algn="ctr" marL="0" indent="0" lvl="0">
              <a:lnSpc>
                <a:spcPts val="3300"/>
              </a:lnSpc>
              <a:spcBef>
                <a:spcPct val="0"/>
              </a:spcBef>
            </a:pPr>
            <a:r>
              <a:rPr lang="en-US" b="true" sz="3000" i="true">
                <a:solidFill>
                  <a:srgbClr val="05061C"/>
                </a:solidFill>
                <a:latin typeface="Dumondi Condensed Bold Italics"/>
                <a:ea typeface="Dumondi Condensed Bold Italics"/>
                <a:cs typeface="Dumondi Condensed Bold Italics"/>
                <a:sym typeface="Dumondi Condensed Bold Italics"/>
              </a:rPr>
              <a:t>Elaborado por:Jessica Jineth Ruiz Rincon</a:t>
            </a:r>
          </a:p>
        </p:txBody>
      </p:sp>
      <p:sp>
        <p:nvSpPr>
          <p:cNvPr name="Freeform 4" id="4"/>
          <p:cNvSpPr/>
          <p:nvPr/>
        </p:nvSpPr>
        <p:spPr>
          <a:xfrm flipH="false" flipV="false" rot="-137772">
            <a:off x="7983782" y="245268"/>
            <a:ext cx="2320437" cy="1763532"/>
          </a:xfrm>
          <a:custGeom>
            <a:avLst/>
            <a:gdLst/>
            <a:ahLst/>
            <a:cxnLst/>
            <a:rect r="r" b="b" t="t" l="l"/>
            <a:pathLst>
              <a:path h="1763532" w="2320437">
                <a:moveTo>
                  <a:pt x="0" y="0"/>
                </a:moveTo>
                <a:lnTo>
                  <a:pt x="2320436" y="0"/>
                </a:lnTo>
                <a:lnTo>
                  <a:pt x="2320436" y="1763532"/>
                </a:lnTo>
                <a:lnTo>
                  <a:pt x="0" y="17635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248835">
            <a:off x="1590729" y="-877670"/>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882916">
            <a:off x="15260428" y="-1317761"/>
            <a:ext cx="1873617" cy="2635522"/>
          </a:xfrm>
          <a:custGeom>
            <a:avLst/>
            <a:gdLst/>
            <a:ahLst/>
            <a:cxnLst/>
            <a:rect r="r" b="b" t="t" l="l"/>
            <a:pathLst>
              <a:path h="2635522" w="1873617">
                <a:moveTo>
                  <a:pt x="0" y="0"/>
                </a:moveTo>
                <a:lnTo>
                  <a:pt x="1873617" y="0"/>
                </a:lnTo>
                <a:lnTo>
                  <a:pt x="1873617" y="2635522"/>
                </a:lnTo>
                <a:lnTo>
                  <a:pt x="0" y="26355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7259300" y="8695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599664">
            <a:off x="4625379" y="-1677477"/>
            <a:ext cx="2604665" cy="3354954"/>
          </a:xfrm>
          <a:custGeom>
            <a:avLst/>
            <a:gdLst/>
            <a:ahLst/>
            <a:cxnLst/>
            <a:rect r="r" b="b" t="t" l="l"/>
            <a:pathLst>
              <a:path h="3354954" w="2604665">
                <a:moveTo>
                  <a:pt x="0" y="0"/>
                </a:moveTo>
                <a:lnTo>
                  <a:pt x="2604665" y="0"/>
                </a:lnTo>
                <a:lnTo>
                  <a:pt x="2604665" y="3354954"/>
                </a:lnTo>
                <a:lnTo>
                  <a:pt x="0" y="33549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2323462">
            <a:off x="11864509" y="-1629901"/>
            <a:ext cx="1864849" cy="3195225"/>
          </a:xfrm>
          <a:custGeom>
            <a:avLst/>
            <a:gdLst/>
            <a:ahLst/>
            <a:cxnLst/>
            <a:rect r="r" b="b" t="t" l="l"/>
            <a:pathLst>
              <a:path h="3195225" w="1864849">
                <a:moveTo>
                  <a:pt x="0" y="0"/>
                </a:moveTo>
                <a:lnTo>
                  <a:pt x="1864849" y="0"/>
                </a:lnTo>
                <a:lnTo>
                  <a:pt x="1864849" y="3195225"/>
                </a:lnTo>
                <a:lnTo>
                  <a:pt x="0" y="31952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891562">
            <a:off x="171874" y="3673643"/>
            <a:ext cx="1713652" cy="3261275"/>
          </a:xfrm>
          <a:custGeom>
            <a:avLst/>
            <a:gdLst/>
            <a:ahLst/>
            <a:cxnLst/>
            <a:rect r="r" b="b" t="t" l="l"/>
            <a:pathLst>
              <a:path h="3261275" w="1713652">
                <a:moveTo>
                  <a:pt x="0" y="0"/>
                </a:moveTo>
                <a:lnTo>
                  <a:pt x="1713652" y="0"/>
                </a:lnTo>
                <a:lnTo>
                  <a:pt x="1713652" y="3261275"/>
                </a:lnTo>
                <a:lnTo>
                  <a:pt x="0" y="32612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767621">
            <a:off x="5979882" y="8712120"/>
            <a:ext cx="1348960" cy="1443440"/>
          </a:xfrm>
          <a:custGeom>
            <a:avLst/>
            <a:gdLst/>
            <a:ahLst/>
            <a:cxnLst/>
            <a:rect r="r" b="b" t="t" l="l"/>
            <a:pathLst>
              <a:path h="1443440" w="1348960">
                <a:moveTo>
                  <a:pt x="0" y="0"/>
                </a:moveTo>
                <a:lnTo>
                  <a:pt x="1348960" y="0"/>
                </a:lnTo>
                <a:lnTo>
                  <a:pt x="1348960" y="1443440"/>
                </a:lnTo>
                <a:lnTo>
                  <a:pt x="0" y="144344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5087336" y="8002683"/>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426402">
            <a:off x="-894040" y="7794813"/>
            <a:ext cx="2888339" cy="2594254"/>
          </a:xfrm>
          <a:custGeom>
            <a:avLst/>
            <a:gdLst/>
            <a:ahLst/>
            <a:cxnLst/>
            <a:rect r="r" b="b" t="t" l="l"/>
            <a:pathLst>
              <a:path h="2594254" w="2888339">
                <a:moveTo>
                  <a:pt x="0" y="0"/>
                </a:moveTo>
                <a:lnTo>
                  <a:pt x="2888339" y="0"/>
                </a:lnTo>
                <a:lnTo>
                  <a:pt x="2888339" y="2594254"/>
                </a:lnTo>
                <a:lnTo>
                  <a:pt x="0" y="259425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4" id="14"/>
          <p:cNvSpPr/>
          <p:nvPr/>
        </p:nvSpPr>
        <p:spPr>
          <a:xfrm flipH="false" flipV="false" rot="1043741">
            <a:off x="8329315" y="8650200"/>
            <a:ext cx="3360285" cy="2413296"/>
          </a:xfrm>
          <a:custGeom>
            <a:avLst/>
            <a:gdLst/>
            <a:ahLst/>
            <a:cxnLst/>
            <a:rect r="r" b="b" t="t" l="l"/>
            <a:pathLst>
              <a:path h="2413296" w="3360285">
                <a:moveTo>
                  <a:pt x="0" y="0"/>
                </a:moveTo>
                <a:lnTo>
                  <a:pt x="3360285" y="0"/>
                </a:lnTo>
                <a:lnTo>
                  <a:pt x="3360285" y="2413295"/>
                </a:lnTo>
                <a:lnTo>
                  <a:pt x="0" y="2413295"/>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5" id="15"/>
          <p:cNvSpPr/>
          <p:nvPr/>
        </p:nvSpPr>
        <p:spPr>
          <a:xfrm flipH="false" flipV="false" rot="-929103">
            <a:off x="2472369" y="8651978"/>
            <a:ext cx="2527838" cy="2068231"/>
          </a:xfrm>
          <a:custGeom>
            <a:avLst/>
            <a:gdLst/>
            <a:ahLst/>
            <a:cxnLst/>
            <a:rect r="r" b="b" t="t" l="l"/>
            <a:pathLst>
              <a:path h="2068231" w="2527838">
                <a:moveTo>
                  <a:pt x="0" y="0"/>
                </a:moveTo>
                <a:lnTo>
                  <a:pt x="2527839" y="0"/>
                </a:lnTo>
                <a:lnTo>
                  <a:pt x="2527839" y="2068231"/>
                </a:lnTo>
                <a:lnTo>
                  <a:pt x="0" y="206823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6" id="16"/>
          <p:cNvSpPr/>
          <p:nvPr/>
        </p:nvSpPr>
        <p:spPr>
          <a:xfrm flipH="false" flipV="false" rot="0">
            <a:off x="12560577" y="8352066"/>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true" flipV="false" rot="-807361">
            <a:off x="16553163" y="3512862"/>
            <a:ext cx="1713652" cy="3261275"/>
          </a:xfrm>
          <a:custGeom>
            <a:avLst/>
            <a:gdLst/>
            <a:ahLst/>
            <a:cxnLst/>
            <a:rect r="r" b="b" t="t" l="l"/>
            <a:pathLst>
              <a:path h="3261275" w="1713652">
                <a:moveTo>
                  <a:pt x="1713652" y="0"/>
                </a:moveTo>
                <a:lnTo>
                  <a:pt x="0" y="0"/>
                </a:lnTo>
                <a:lnTo>
                  <a:pt x="0" y="3261276"/>
                </a:lnTo>
                <a:lnTo>
                  <a:pt x="1713652" y="3261276"/>
                </a:lnTo>
                <a:lnTo>
                  <a:pt x="1713652"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1217368">
            <a:off x="-981827" y="973876"/>
            <a:ext cx="2689340" cy="1789633"/>
          </a:xfrm>
          <a:custGeom>
            <a:avLst/>
            <a:gdLst/>
            <a:ahLst/>
            <a:cxnLst/>
            <a:rect r="r" b="b" t="t" l="l"/>
            <a:pathLst>
              <a:path h="1789633" w="2689340">
                <a:moveTo>
                  <a:pt x="0" y="0"/>
                </a:moveTo>
                <a:lnTo>
                  <a:pt x="2689340" y="0"/>
                </a:lnTo>
                <a:lnTo>
                  <a:pt x="2689340" y="1789634"/>
                </a:lnTo>
                <a:lnTo>
                  <a:pt x="0" y="17896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65363" y="2817704"/>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INTRODUCCIÓN</a:t>
            </a:r>
          </a:p>
        </p:txBody>
      </p:sp>
      <p:sp>
        <p:nvSpPr>
          <p:cNvPr name="TextBox 3" id="3"/>
          <p:cNvSpPr txBox="true"/>
          <p:nvPr/>
        </p:nvSpPr>
        <p:spPr>
          <a:xfrm rot="0">
            <a:off x="2380886" y="4025872"/>
            <a:ext cx="14760525" cy="4718193"/>
          </a:xfrm>
          <a:prstGeom prst="rect">
            <a:avLst/>
          </a:prstGeom>
        </p:spPr>
        <p:txBody>
          <a:bodyPr anchor="t" rtlCol="false" tIns="0" lIns="0" bIns="0" rIns="0">
            <a:spAutoFit/>
          </a:bodyPr>
          <a:lstStyle/>
          <a:p>
            <a:pPr algn="l">
              <a:lnSpc>
                <a:spcPts val="2934"/>
              </a:lnSpc>
            </a:pPr>
            <a:r>
              <a:rPr lang="en-US" sz="2206">
                <a:solidFill>
                  <a:srgbClr val="05061C"/>
                </a:solidFill>
                <a:latin typeface="Dumondi Condensed"/>
                <a:ea typeface="Dumondi Condensed"/>
                <a:cs typeface="Dumondi Condensed"/>
                <a:sym typeface="Dumondi Condensed"/>
              </a:rPr>
              <a:t>El proyecto resuelve el problema de buscar información dentro de documentos propios de forma rápida y por significado, sin depender únicamente de palabras exactas.</a:t>
            </a:r>
          </a:p>
          <a:p>
            <a:pPr algn="l">
              <a:lnSpc>
                <a:spcPts val="2934"/>
              </a:lnSpc>
            </a:pPr>
            <a:r>
              <a:rPr lang="en-US" sz="2206" b="true">
                <a:solidFill>
                  <a:srgbClr val="05061C"/>
                </a:solidFill>
                <a:latin typeface="Dumondi Condensed Bold"/>
                <a:ea typeface="Dumondi Condensed Bold"/>
                <a:cs typeface="Dumondi Condensed Bold"/>
                <a:sym typeface="Dumondi Condensed Bold"/>
              </a:rPr>
              <a:t>Problema que resuelve</a:t>
            </a:r>
          </a:p>
          <a:p>
            <a:pPr algn="l">
              <a:lnSpc>
                <a:spcPts val="2934"/>
              </a:lnSpc>
            </a:pPr>
            <a:r>
              <a:rPr lang="en-US" sz="2206">
                <a:solidFill>
                  <a:srgbClr val="05061C"/>
                </a:solidFill>
                <a:latin typeface="Dumondi Condensed"/>
                <a:ea typeface="Dumondi Condensed"/>
                <a:cs typeface="Dumondi Condensed"/>
                <a:sym typeface="Dumondi Condensed"/>
              </a:rPr>
              <a:t>Cuando una persona tiene muchos documentos en formatos como TXT, MD, CSV, JSON o PDF, encontrar información específica puede ser difícil si debe revisar los archivos manualmente o buscar coincidencias exactas.</a:t>
            </a:r>
          </a:p>
          <a:p>
            <a:pPr algn="l">
              <a:lnSpc>
                <a:spcPts val="2934"/>
              </a:lnSpc>
            </a:pPr>
            <a:r>
              <a:rPr lang="en-US" sz="2206" b="true">
                <a:solidFill>
                  <a:srgbClr val="05061C"/>
                </a:solidFill>
                <a:latin typeface="Dumondi Condensed Bold"/>
                <a:ea typeface="Dumondi Condensed Bold"/>
                <a:cs typeface="Dumondi Condensed Bold"/>
                <a:sym typeface="Dumondi Condensed Bold"/>
              </a:rPr>
              <a:t>Por ejemplo,</a:t>
            </a:r>
            <a:r>
              <a:rPr lang="en-US" sz="2206">
                <a:solidFill>
                  <a:srgbClr val="05061C"/>
                </a:solidFill>
                <a:latin typeface="Dumondi Condensed"/>
                <a:ea typeface="Dumondi Condensed"/>
                <a:cs typeface="Dumondi Condensed"/>
                <a:sym typeface="Dumondi Condensed"/>
              </a:rPr>
              <a:t> si un documento dice:</a:t>
            </a:r>
          </a:p>
          <a:p>
            <a:pPr algn="l">
              <a:lnSpc>
                <a:spcPts val="2934"/>
              </a:lnSpc>
            </a:pPr>
            <a:r>
              <a:rPr lang="en-US" sz="2206">
                <a:solidFill>
                  <a:srgbClr val="05061C"/>
                </a:solidFill>
                <a:latin typeface="Dumondi Condensed"/>
                <a:ea typeface="Dumondi Condensed"/>
                <a:cs typeface="Dumondi Condensed"/>
                <a:sym typeface="Dumondi Condensed"/>
              </a:rPr>
              <a:t>“El sistema presentó una disminución considerable en su rendimiento.”</a:t>
            </a:r>
          </a:p>
          <a:p>
            <a:pPr algn="l">
              <a:lnSpc>
                <a:spcPts val="2934"/>
              </a:lnSpc>
            </a:pPr>
            <a:r>
              <a:rPr lang="en-US" sz="2206">
                <a:solidFill>
                  <a:srgbClr val="05061C"/>
                </a:solidFill>
                <a:latin typeface="Dumondi Condensed"/>
                <a:ea typeface="Dumondi Condensed"/>
                <a:cs typeface="Dumondi Condensed"/>
                <a:sym typeface="Dumondi Condensed"/>
              </a:rPr>
              <a:t>y el usuario busca:</a:t>
            </a:r>
          </a:p>
          <a:p>
            <a:pPr algn="l">
              <a:lnSpc>
                <a:spcPts val="2934"/>
              </a:lnSpc>
            </a:pPr>
            <a:r>
              <a:rPr lang="en-US" sz="2206">
                <a:solidFill>
                  <a:srgbClr val="05061C"/>
                </a:solidFill>
                <a:latin typeface="Dumondi Condensed"/>
                <a:ea typeface="Dumondi Condensed"/>
                <a:cs typeface="Dumondi Condensed"/>
                <a:sym typeface="Dumondi Condensed"/>
              </a:rPr>
              <a:t>“¿Cuándo bajó el rendimiento del sistema?”</a:t>
            </a:r>
          </a:p>
          <a:p>
            <a:pPr algn="l">
              <a:lnSpc>
                <a:spcPts val="2934"/>
              </a:lnSpc>
            </a:pPr>
            <a:r>
              <a:rPr lang="en-US" sz="2206">
                <a:solidFill>
                  <a:srgbClr val="05061C"/>
                </a:solidFill>
                <a:latin typeface="Dumondi Condensed"/>
                <a:ea typeface="Dumondi Condensed"/>
                <a:cs typeface="Dumondi Condensed"/>
                <a:sym typeface="Dumondi Condensed"/>
              </a:rPr>
              <a:t>un buscador tradicional puede no encontrarlo porque las palabras no coinciden exactamente. El buscador semántico compara el significado de la consulta con el contenido mediante embeddings.</a:t>
            </a:r>
          </a:p>
          <a:p>
            <a:pPr algn="l">
              <a:lnSpc>
                <a:spcPts val="2668"/>
              </a:lnSpc>
            </a:pPr>
          </a:p>
          <a:p>
            <a:pPr algn="l">
              <a:lnSpc>
                <a:spcPts val="2668"/>
              </a:lnSpc>
            </a:pPr>
          </a:p>
          <a:p>
            <a:pPr algn="l" marL="0" indent="0" lvl="0">
              <a:lnSpc>
                <a:spcPts val="2668"/>
              </a:lnSpc>
            </a:pPr>
          </a:p>
        </p:txBody>
      </p:sp>
      <p:sp>
        <p:nvSpPr>
          <p:cNvPr name="Freeform 4" id="4"/>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65363" y="2817704"/>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¿PARA QUIÉN?</a:t>
            </a:r>
          </a:p>
        </p:txBody>
      </p:sp>
      <p:sp>
        <p:nvSpPr>
          <p:cNvPr name="TextBox 3" id="3"/>
          <p:cNvSpPr txBox="true"/>
          <p:nvPr/>
        </p:nvSpPr>
        <p:spPr>
          <a:xfrm rot="0">
            <a:off x="2299067" y="4035397"/>
            <a:ext cx="14842343" cy="3390916"/>
          </a:xfrm>
          <a:prstGeom prst="rect">
            <a:avLst/>
          </a:prstGeom>
        </p:spPr>
        <p:txBody>
          <a:bodyPr anchor="t" rtlCol="false" tIns="0" lIns="0" bIns="0" rIns="0">
            <a:spAutoFit/>
          </a:bodyPr>
          <a:lstStyle/>
          <a:p>
            <a:pPr algn="l">
              <a:lnSpc>
                <a:spcPts val="3466"/>
              </a:lnSpc>
            </a:pPr>
          </a:p>
          <a:p>
            <a:pPr algn="l">
              <a:lnSpc>
                <a:spcPts val="3466"/>
              </a:lnSpc>
            </a:pPr>
            <a:r>
              <a:rPr lang="en-US" sz="2606">
                <a:solidFill>
                  <a:srgbClr val="05061C"/>
                </a:solidFill>
                <a:latin typeface="Dumondi Condensed"/>
                <a:ea typeface="Dumondi Condensed"/>
                <a:cs typeface="Dumondi Condensed"/>
                <a:sym typeface="Dumondi Condensed"/>
              </a:rPr>
              <a:t>Está dirigido principalmente a:</a:t>
            </a:r>
          </a:p>
          <a:p>
            <a:pPr algn="l" marL="562785" indent="-281392" lvl="1">
              <a:lnSpc>
                <a:spcPts val="3466"/>
              </a:lnSpc>
              <a:buFont typeface="Arial"/>
              <a:buChar char="•"/>
            </a:pPr>
            <a:r>
              <a:rPr lang="en-US" sz="2606">
                <a:solidFill>
                  <a:srgbClr val="05061C"/>
                </a:solidFill>
                <a:latin typeface="Dumondi Condensed"/>
                <a:ea typeface="Dumondi Condensed"/>
                <a:cs typeface="Dumondi Condensed"/>
                <a:sym typeface="Dumondi Condensed"/>
              </a:rPr>
              <a:t>Estudiantes: para consultar rápidamente apuntes, trabajos, investigaciones y documentos académicos.</a:t>
            </a:r>
          </a:p>
          <a:p>
            <a:pPr algn="l" marL="562785" indent="-281392" lvl="1">
              <a:lnSpc>
                <a:spcPts val="3466"/>
              </a:lnSpc>
              <a:buFont typeface="Arial"/>
              <a:buChar char="•"/>
            </a:pPr>
            <a:r>
              <a:rPr lang="en-US" sz="2606">
                <a:solidFill>
                  <a:srgbClr val="05061C"/>
                </a:solidFill>
                <a:latin typeface="Dumondi Condensed"/>
                <a:ea typeface="Dumondi Condensed"/>
                <a:cs typeface="Dumondi Condensed"/>
                <a:sym typeface="Dumondi Condensed"/>
              </a:rPr>
              <a:t>Docentes e investigadores: para localizar información relevante dentro de grandes cantidades de documentos.</a:t>
            </a:r>
          </a:p>
          <a:p>
            <a:pPr algn="l" marL="562785" indent="-281392" lvl="1">
              <a:lnSpc>
                <a:spcPts val="3466"/>
              </a:lnSpc>
              <a:buFont typeface="Arial"/>
              <a:buChar char="•"/>
            </a:pPr>
            <a:r>
              <a:rPr lang="en-US" sz="2606">
                <a:solidFill>
                  <a:srgbClr val="05061C"/>
                </a:solidFill>
                <a:latin typeface="Dumondi Condensed"/>
                <a:ea typeface="Dumondi Condensed"/>
                <a:cs typeface="Dumondi Condensed"/>
                <a:sym typeface="Dumondi Condensed"/>
              </a:rPr>
              <a:t>Profesionales: para consultar informes, documentos técnicos, registros y archivos internos.</a:t>
            </a:r>
          </a:p>
          <a:p>
            <a:pPr algn="l" marL="562785" indent="-281392" lvl="1">
              <a:lnSpc>
                <a:spcPts val="3466"/>
              </a:lnSpc>
              <a:buFont typeface="Arial"/>
              <a:buChar char="•"/>
            </a:pPr>
            <a:r>
              <a:rPr lang="en-US" sz="2606">
                <a:solidFill>
                  <a:srgbClr val="05061C"/>
                </a:solidFill>
                <a:latin typeface="Dumondi Condensed"/>
                <a:ea typeface="Dumondi Condensed"/>
                <a:cs typeface="Dumondi Condensed"/>
                <a:sym typeface="Dumondi Condensed"/>
              </a:rPr>
              <a:t>Cualquier usuario que tenga documentos propios: especialmente cuando necesita encontrar información por significado y no solamente por palabras exactas.</a:t>
            </a:r>
          </a:p>
          <a:p>
            <a:pPr algn="l" marL="0" indent="0" lvl="0">
              <a:lnSpc>
                <a:spcPts val="2668"/>
              </a:lnSpc>
            </a:pPr>
          </a:p>
        </p:txBody>
      </p:sp>
      <p:sp>
        <p:nvSpPr>
          <p:cNvPr name="Freeform 4" id="4"/>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65363" y="2817704"/>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EXPLICACION PARTES DEL PROYECTO</a:t>
            </a:r>
          </a:p>
        </p:txBody>
      </p:sp>
      <p:sp>
        <p:nvSpPr>
          <p:cNvPr name="TextBox 3" id="3"/>
          <p:cNvSpPr txBox="true"/>
          <p:nvPr/>
        </p:nvSpPr>
        <p:spPr>
          <a:xfrm rot="0">
            <a:off x="1628300" y="4025872"/>
            <a:ext cx="5984699" cy="4187714"/>
          </a:xfrm>
          <a:prstGeom prst="rect">
            <a:avLst/>
          </a:prstGeom>
        </p:spPr>
        <p:txBody>
          <a:bodyPr anchor="t" rtlCol="false" tIns="0" lIns="0" bIns="0" rIns="0">
            <a:spAutoFit/>
          </a:bodyPr>
          <a:lstStyle/>
          <a:p>
            <a:pPr algn="l">
              <a:lnSpc>
                <a:spcPts val="3333"/>
              </a:lnSpc>
            </a:pPr>
            <a:r>
              <a:rPr lang="en-US" sz="2506" b="true">
                <a:solidFill>
                  <a:srgbClr val="05061C"/>
                </a:solidFill>
                <a:latin typeface="Dumondi Condensed Bold"/>
                <a:ea typeface="Dumondi Condensed Bold"/>
                <a:cs typeface="Dumondi Condensed Bold"/>
                <a:sym typeface="Dumondi Condensed Bold"/>
              </a:rPr>
              <a:t>1. Interfaz de usuario — index.html</a:t>
            </a:r>
          </a:p>
          <a:p>
            <a:pPr algn="l">
              <a:lnSpc>
                <a:spcPts val="3333"/>
              </a:lnSpc>
            </a:pPr>
            <a:r>
              <a:rPr lang="en-US" sz="2506">
                <a:solidFill>
                  <a:srgbClr val="05061C"/>
                </a:solidFill>
                <a:latin typeface="Dumondi Condensed"/>
                <a:ea typeface="Dumondi Condensed"/>
                <a:cs typeface="Dumondi Condensed"/>
                <a:sym typeface="Dumondi Condensed"/>
              </a:rPr>
              <a:t>Es la parte que ve y utiliza el usuario.</a:t>
            </a:r>
          </a:p>
          <a:p>
            <a:pPr algn="l">
              <a:lnSpc>
                <a:spcPts val="3333"/>
              </a:lnSpc>
            </a:pPr>
            <a:r>
              <a:rPr lang="en-US" sz="2506">
                <a:solidFill>
                  <a:srgbClr val="05061C"/>
                </a:solidFill>
                <a:latin typeface="Dumondi Condensed"/>
                <a:ea typeface="Dumondi Condensed"/>
                <a:cs typeface="Dumondi Condensed"/>
                <a:sym typeface="Dumondi Condensed"/>
              </a:rPr>
              <a:t>Permite:</a:t>
            </a:r>
          </a:p>
          <a:p>
            <a:pPr algn="l" marL="541195" indent="-270598" lvl="1">
              <a:lnSpc>
                <a:spcPts val="3333"/>
              </a:lnSpc>
              <a:buFont typeface="Arial"/>
              <a:buChar char="•"/>
            </a:pPr>
            <a:r>
              <a:rPr lang="en-US" sz="2506">
                <a:solidFill>
                  <a:srgbClr val="05061C"/>
                </a:solidFill>
                <a:latin typeface="Dumondi Condensed"/>
                <a:ea typeface="Dumondi Condensed"/>
                <a:cs typeface="Dumondi Condensed"/>
                <a:sym typeface="Dumondi Condensed"/>
              </a:rPr>
              <a:t>Cargar documentos.</a:t>
            </a:r>
          </a:p>
          <a:p>
            <a:pPr algn="l" marL="541195" indent="-270598" lvl="1">
              <a:lnSpc>
                <a:spcPts val="3333"/>
              </a:lnSpc>
              <a:buFont typeface="Arial"/>
              <a:buChar char="•"/>
            </a:pPr>
            <a:r>
              <a:rPr lang="en-US" sz="2506">
                <a:solidFill>
                  <a:srgbClr val="05061C"/>
                </a:solidFill>
                <a:latin typeface="Dumondi Condensed"/>
                <a:ea typeface="Dumondi Condensed"/>
                <a:cs typeface="Dumondi Condensed"/>
                <a:sym typeface="Dumondi Condensed"/>
              </a:rPr>
              <a:t>Arrastrar y soltar archivos.</a:t>
            </a:r>
          </a:p>
          <a:p>
            <a:pPr algn="l" marL="541195" indent="-270598" lvl="1">
              <a:lnSpc>
                <a:spcPts val="3333"/>
              </a:lnSpc>
              <a:buFont typeface="Arial"/>
              <a:buChar char="•"/>
            </a:pPr>
            <a:r>
              <a:rPr lang="en-US" sz="2506">
                <a:solidFill>
                  <a:srgbClr val="05061C"/>
                </a:solidFill>
                <a:latin typeface="Dumondi Condensed"/>
                <a:ea typeface="Dumondi Condensed"/>
                <a:cs typeface="Dumondi Condensed"/>
                <a:sym typeface="Dumondi Condensed"/>
              </a:rPr>
              <a:t>Escribir una consulta.</a:t>
            </a:r>
          </a:p>
          <a:p>
            <a:pPr algn="l" marL="541195" indent="-270598" lvl="1">
              <a:lnSpc>
                <a:spcPts val="3333"/>
              </a:lnSpc>
              <a:buFont typeface="Arial"/>
              <a:buChar char="•"/>
            </a:pPr>
            <a:r>
              <a:rPr lang="en-US" sz="2506">
                <a:solidFill>
                  <a:srgbClr val="05061C"/>
                </a:solidFill>
                <a:latin typeface="Dumondi Condensed"/>
                <a:ea typeface="Dumondi Condensed"/>
                <a:cs typeface="Dumondi Condensed"/>
                <a:sym typeface="Dumondi Condensed"/>
              </a:rPr>
              <a:t>Configurar el nivel de similitud.</a:t>
            </a:r>
          </a:p>
          <a:p>
            <a:pPr algn="l" marL="541195" indent="-270598" lvl="1">
              <a:lnSpc>
                <a:spcPts val="3333"/>
              </a:lnSpc>
              <a:buFont typeface="Arial"/>
              <a:buChar char="•"/>
            </a:pPr>
            <a:r>
              <a:rPr lang="en-US" sz="2506">
                <a:solidFill>
                  <a:srgbClr val="05061C"/>
                </a:solidFill>
                <a:latin typeface="Dumondi Condensed"/>
                <a:ea typeface="Dumondi Condensed"/>
                <a:cs typeface="Dumondi Condensed"/>
                <a:sym typeface="Dumondi Condensed"/>
              </a:rPr>
              <a:t>Visualizar los resultados.</a:t>
            </a:r>
          </a:p>
          <a:p>
            <a:pPr algn="l">
              <a:lnSpc>
                <a:spcPts val="3333"/>
              </a:lnSpc>
            </a:pPr>
            <a:r>
              <a:rPr lang="en-US" sz="2506">
                <a:solidFill>
                  <a:srgbClr val="05061C"/>
                </a:solidFill>
                <a:latin typeface="Dumondi Condensed"/>
                <a:ea typeface="Dumondi Condensed"/>
                <a:cs typeface="Dumondi Condensed"/>
                <a:sym typeface="Dumondi Condensed"/>
              </a:rPr>
              <a:t>Se conecta con: eventos.mjs e interfaz.mjs.</a:t>
            </a:r>
          </a:p>
          <a:p>
            <a:pPr algn="l">
              <a:lnSpc>
                <a:spcPts val="3333"/>
              </a:lnSpc>
            </a:pPr>
          </a:p>
        </p:txBody>
      </p:sp>
      <p:sp>
        <p:nvSpPr>
          <p:cNvPr name="Freeform 4" id="4"/>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8556926" y="4011606"/>
            <a:ext cx="7791093" cy="3989705"/>
          </a:xfrm>
          <a:prstGeom prst="rect">
            <a:avLst/>
          </a:prstGeom>
        </p:spPr>
        <p:txBody>
          <a:bodyPr anchor="t" rtlCol="false" tIns="0" lIns="0" bIns="0" rIns="0">
            <a:spAutoFit/>
          </a:bodyPr>
          <a:lstStyle/>
          <a:p>
            <a:pPr algn="l">
              <a:lnSpc>
                <a:spcPts val="3219"/>
              </a:lnSpc>
              <a:spcBef>
                <a:spcPct val="0"/>
              </a:spcBef>
            </a:pPr>
            <a:r>
              <a:rPr lang="en-US" b="true" sz="2299">
                <a:solidFill>
                  <a:srgbClr val="05061C"/>
                </a:solidFill>
                <a:latin typeface="Dumondi Condensed Bold"/>
                <a:ea typeface="Dumondi Condensed Bold"/>
                <a:cs typeface="Dumondi Condensed Bold"/>
                <a:sym typeface="Dumondi Condensed Bold"/>
              </a:rPr>
              <a:t>2. Gestión de eventos — eventos.mjs</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Es el controlador principal del sistema.</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Se encarga de detectar acciones como:</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Seleccionar un archivo.</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Cargar documentos.</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Presionar el botón de búsqueda.</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Cambiar el umbral de similitud.</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Eliminar documentos.</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Después de detectar una acción, coordina el módulo que debe ejecutarla.</a:t>
            </a:r>
          </a:p>
          <a:p>
            <a:pPr algn="l">
              <a:lnSpc>
                <a:spcPts val="3219"/>
              </a:lnSpc>
              <a:spcBef>
                <a:spcPct val="0"/>
              </a:spcBef>
            </a:pPr>
            <a:r>
              <a:rPr lang="en-US" sz="2299">
                <a:solidFill>
                  <a:srgbClr val="05061C"/>
                </a:solidFill>
                <a:latin typeface="Dumondi Condensed"/>
                <a:ea typeface="Dumondi Condensed"/>
                <a:cs typeface="Dumondi Condensed"/>
                <a:sym typeface="Dumondi Condensed"/>
              </a:rPr>
              <a:t>Se conecta con: index.html, documentos.mjs, embeddings.mjs, buscador.mjs e interfaz.mjs.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80626" y="2132126"/>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EXPLICACION PARTES DEL PROYECTO</a:t>
            </a:r>
          </a:p>
        </p:txBody>
      </p:sp>
      <p:sp>
        <p:nvSpPr>
          <p:cNvPr name="TextBox 3" id="3"/>
          <p:cNvSpPr txBox="true"/>
          <p:nvPr/>
        </p:nvSpPr>
        <p:spPr>
          <a:xfrm rot="0">
            <a:off x="1124573" y="3349818"/>
            <a:ext cx="6488426" cy="4118118"/>
          </a:xfrm>
          <a:prstGeom prst="rect">
            <a:avLst/>
          </a:prstGeom>
        </p:spPr>
        <p:txBody>
          <a:bodyPr anchor="t" rtlCol="false" tIns="0" lIns="0" bIns="0" rIns="0">
            <a:spAutoFit/>
          </a:bodyPr>
          <a:lstStyle/>
          <a:p>
            <a:pPr algn="l">
              <a:lnSpc>
                <a:spcPts val="3067"/>
              </a:lnSpc>
            </a:pPr>
            <a:r>
              <a:rPr lang="en-US" sz="2306" b="true">
                <a:solidFill>
                  <a:srgbClr val="05061C"/>
                </a:solidFill>
                <a:latin typeface="Dumondi Condensed Bold"/>
                <a:ea typeface="Dumondi Condensed Bold"/>
                <a:cs typeface="Dumondi Condensed Bold"/>
                <a:sym typeface="Dumondi Condensed Bold"/>
              </a:rPr>
              <a:t>3. Procesamiento de documentos — documentos.mj</a:t>
            </a:r>
            <a:r>
              <a:rPr lang="en-US" sz="2306" b="true">
                <a:solidFill>
                  <a:srgbClr val="05061C"/>
                </a:solidFill>
                <a:latin typeface="Dumondi Condensed Bold"/>
                <a:ea typeface="Dumondi Condensed Bold"/>
                <a:cs typeface="Dumondi Condensed Bold"/>
                <a:sym typeface="Dumondi Condensed Bold"/>
              </a:rPr>
              <a:t>s</a:t>
            </a:r>
          </a:p>
          <a:p>
            <a:pPr algn="l">
              <a:lnSpc>
                <a:spcPts val="3067"/>
              </a:lnSpc>
            </a:pPr>
            <a:r>
              <a:rPr lang="en-US" sz="2306">
                <a:solidFill>
                  <a:srgbClr val="05061C"/>
                </a:solidFill>
                <a:latin typeface="Dumondi Condensed"/>
                <a:ea typeface="Dumondi Condensed"/>
                <a:cs typeface="Dumondi Condensed"/>
                <a:sym typeface="Dumondi Condensed"/>
              </a:rPr>
              <a:t>Se encarga de recibir y procesar los archivos.</a:t>
            </a:r>
          </a:p>
          <a:p>
            <a:pPr algn="l">
              <a:lnSpc>
                <a:spcPts val="3067"/>
              </a:lnSpc>
            </a:pPr>
            <a:r>
              <a:rPr lang="en-US" sz="2306">
                <a:solidFill>
                  <a:srgbClr val="05061C"/>
                </a:solidFill>
                <a:latin typeface="Dumondi Condensed"/>
                <a:ea typeface="Dumondi Condensed"/>
                <a:cs typeface="Dumondi Condensed"/>
                <a:sym typeface="Dumondi Condensed"/>
              </a:rPr>
              <a:t>El proyecto p</a:t>
            </a:r>
            <a:r>
              <a:rPr lang="en-US" sz="2306">
                <a:solidFill>
                  <a:srgbClr val="05061C"/>
                </a:solidFill>
                <a:latin typeface="Dumondi Condensed"/>
                <a:ea typeface="Dumondi Condensed"/>
                <a:cs typeface="Dumondi Condensed"/>
                <a:sym typeface="Dumondi Condensed"/>
              </a:rPr>
              <a:t>ermite trabajar con:</a:t>
            </a:r>
          </a:p>
          <a:p>
            <a:pPr algn="l">
              <a:lnSpc>
                <a:spcPts val="3067"/>
              </a:lnSpc>
            </a:pPr>
            <a:r>
              <a:rPr lang="en-US" sz="2306">
                <a:solidFill>
                  <a:srgbClr val="05061C"/>
                </a:solidFill>
                <a:latin typeface="Dumondi Condensed"/>
                <a:ea typeface="Dumondi Condensed"/>
                <a:cs typeface="Dumondi Condensed"/>
                <a:sym typeface="Dumondi Condensed"/>
              </a:rPr>
              <a:t>TXT → MD → CSV → JSON →</a:t>
            </a:r>
            <a:r>
              <a:rPr lang="en-US" sz="2306">
                <a:solidFill>
                  <a:srgbClr val="05061C"/>
                </a:solidFill>
                <a:latin typeface="Dumondi Condensed"/>
                <a:ea typeface="Dumondi Condensed"/>
                <a:cs typeface="Dumondi Condensed"/>
                <a:sym typeface="Dumondi Condensed"/>
              </a:rPr>
              <a:t> PDF</a:t>
            </a:r>
          </a:p>
          <a:p>
            <a:pPr algn="l">
              <a:lnSpc>
                <a:spcPts val="3067"/>
              </a:lnSpc>
            </a:pPr>
            <a:r>
              <a:rPr lang="en-US" sz="2306">
                <a:solidFill>
                  <a:srgbClr val="05061C"/>
                </a:solidFill>
                <a:latin typeface="Dumondi Condensed"/>
                <a:ea typeface="Dumondi Condensed"/>
                <a:cs typeface="Dumondi Condensed"/>
                <a:sym typeface="Dumondi Condensed"/>
              </a:rPr>
              <a:t>El módulo:</a:t>
            </a:r>
          </a:p>
          <a:p>
            <a:pPr algn="l" marL="498017" indent="-249008" lvl="1">
              <a:lnSpc>
                <a:spcPts val="3067"/>
              </a:lnSpc>
              <a:buAutoNum type="arabicPeriod" startAt="1"/>
            </a:pPr>
            <a:r>
              <a:rPr lang="en-US" sz="2306">
                <a:solidFill>
                  <a:srgbClr val="05061C"/>
                </a:solidFill>
                <a:latin typeface="Dumondi Condensed"/>
                <a:ea typeface="Dumondi Condensed"/>
                <a:cs typeface="Dumondi Condensed"/>
                <a:sym typeface="Dumondi Condensed"/>
              </a:rPr>
              <a:t>Lee el archivo.</a:t>
            </a:r>
          </a:p>
          <a:p>
            <a:pPr algn="l" marL="498017" indent="-249008" lvl="1">
              <a:lnSpc>
                <a:spcPts val="3067"/>
              </a:lnSpc>
              <a:buAutoNum type="arabicPeriod" startAt="1"/>
            </a:pPr>
            <a:r>
              <a:rPr lang="en-US" sz="2306">
                <a:solidFill>
                  <a:srgbClr val="05061C"/>
                </a:solidFill>
                <a:latin typeface="Dumondi Condensed"/>
                <a:ea typeface="Dumondi Condensed"/>
                <a:cs typeface="Dumondi Condensed"/>
                <a:sym typeface="Dumondi Condensed"/>
              </a:rPr>
              <a:t>Extrae el texto.</a:t>
            </a:r>
          </a:p>
          <a:p>
            <a:pPr algn="l" marL="498017" indent="-249008" lvl="1">
              <a:lnSpc>
                <a:spcPts val="3067"/>
              </a:lnSpc>
              <a:buAutoNum type="arabicPeriod" startAt="1"/>
            </a:pPr>
            <a:r>
              <a:rPr lang="en-US" sz="2306">
                <a:solidFill>
                  <a:srgbClr val="05061C"/>
                </a:solidFill>
                <a:latin typeface="Dumondi Condensed"/>
                <a:ea typeface="Dumondi Condensed"/>
                <a:cs typeface="Dumondi Condensed"/>
                <a:sym typeface="Dumondi Condensed"/>
              </a:rPr>
              <a:t>D</a:t>
            </a:r>
            <a:r>
              <a:rPr lang="en-US" sz="2306">
                <a:solidFill>
                  <a:srgbClr val="05061C"/>
                </a:solidFill>
                <a:latin typeface="Dumondi Condensed"/>
                <a:ea typeface="Dumondi Condensed"/>
                <a:cs typeface="Dumondi Condensed"/>
                <a:sym typeface="Dumondi Condensed"/>
              </a:rPr>
              <a:t>ivide textos grandes en fragmentos.</a:t>
            </a:r>
          </a:p>
          <a:p>
            <a:pPr algn="l" marL="498017" indent="-249008" lvl="1">
              <a:lnSpc>
                <a:spcPts val="3067"/>
              </a:lnSpc>
              <a:buAutoNum type="arabicPeriod" startAt="1"/>
            </a:pPr>
            <a:r>
              <a:rPr lang="en-US" sz="2306">
                <a:solidFill>
                  <a:srgbClr val="05061C"/>
                </a:solidFill>
                <a:latin typeface="Dumondi Condensed"/>
                <a:ea typeface="Dumondi Condensed"/>
                <a:cs typeface="Dumondi Condensed"/>
                <a:sym typeface="Dumondi Condensed"/>
              </a:rPr>
              <a:t>Enví</a:t>
            </a:r>
            <a:r>
              <a:rPr lang="en-US" sz="2306">
                <a:solidFill>
                  <a:srgbClr val="05061C"/>
                </a:solidFill>
                <a:latin typeface="Dumondi Condensed"/>
                <a:ea typeface="Dumondi Condensed"/>
                <a:cs typeface="Dumondi Condensed"/>
                <a:sym typeface="Dumondi Condensed"/>
              </a:rPr>
              <a:t>a esos fragmentos al módulo de embeddings.</a:t>
            </a:r>
          </a:p>
          <a:p>
            <a:pPr algn="l">
              <a:lnSpc>
                <a:spcPts val="3067"/>
              </a:lnSpc>
            </a:pPr>
            <a:r>
              <a:rPr lang="en-US" sz="2306">
                <a:solidFill>
                  <a:srgbClr val="05061C"/>
                </a:solidFill>
                <a:latin typeface="Dumondi Condensed"/>
                <a:ea typeface="Dumondi Condensed"/>
                <a:cs typeface="Dumondi Condensed"/>
                <a:sym typeface="Dumondi Condensed"/>
              </a:rPr>
              <a:t>Se conecta con: eventos.mjs y embeddings.mjs.</a:t>
            </a:r>
          </a:p>
          <a:p>
            <a:pPr algn="l">
              <a:lnSpc>
                <a:spcPts val="2535"/>
              </a:lnSpc>
            </a:pPr>
          </a:p>
        </p:txBody>
      </p:sp>
      <p:sp>
        <p:nvSpPr>
          <p:cNvPr name="Freeform 4" id="4"/>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8531981" y="3340293"/>
            <a:ext cx="8609429" cy="5270500"/>
          </a:xfrm>
          <a:prstGeom prst="rect">
            <a:avLst/>
          </a:prstGeom>
        </p:spPr>
        <p:txBody>
          <a:bodyPr anchor="t" rtlCol="false" tIns="0" lIns="0" bIns="0" rIns="0">
            <a:spAutoFit/>
          </a:bodyPr>
          <a:lstStyle/>
          <a:p>
            <a:pPr algn="l">
              <a:lnSpc>
                <a:spcPts val="2660"/>
              </a:lnSpc>
              <a:spcBef>
                <a:spcPct val="0"/>
              </a:spcBef>
            </a:pPr>
            <a:r>
              <a:rPr lang="en-US" b="true" sz="1900">
                <a:solidFill>
                  <a:srgbClr val="05061C"/>
                </a:solidFill>
                <a:latin typeface="Dumondi Condensed Bold"/>
                <a:ea typeface="Dumondi Condensed Bold"/>
                <a:cs typeface="Dumondi Condensed Bold"/>
                <a:sym typeface="Dumondi Condensed Bold"/>
              </a:rPr>
              <a:t>4</a:t>
            </a:r>
            <a:r>
              <a:rPr lang="en-US" b="true" sz="1900">
                <a:solidFill>
                  <a:srgbClr val="05061C"/>
                </a:solidFill>
                <a:latin typeface="Dumondi Condensed Bold"/>
                <a:ea typeface="Dumondi Condensed Bold"/>
                <a:cs typeface="Dumondi Condensed Bold"/>
                <a:sym typeface="Dumondi Condensed Bold"/>
              </a:rPr>
              <a:t>. Generación de embeddings — embeddings.mjs</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Es una de las partes más importantes del proyecto.</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Convierte cada fragmento de texto en un vector numérico, llamado embedding.</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Utiliza:</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Transformers.js + paraphrase-multilingual-MiniLM-L12-v2</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Estos vectores permiten representar el significado del texto matemáticamente.</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Por ejemplo:</a:t>
            </a:r>
          </a:p>
          <a:p>
            <a:pPr algn="l">
              <a:lnSpc>
                <a:spcPts val="2660"/>
              </a:lnSpc>
              <a:spcBef>
                <a:spcPct val="0"/>
              </a:spcBef>
            </a:pPr>
          </a:p>
          <a:p>
            <a:pPr algn="l">
              <a:lnSpc>
                <a:spcPts val="2660"/>
              </a:lnSpc>
              <a:spcBef>
                <a:spcPct val="0"/>
              </a:spcBef>
            </a:pPr>
            <a:r>
              <a:rPr lang="en-US" sz="1900">
                <a:solidFill>
                  <a:srgbClr val="05061C"/>
                </a:solidFill>
                <a:latin typeface="Dumondi Condensed"/>
                <a:ea typeface="Dumondi Condensed"/>
                <a:cs typeface="Dumondi Condensed"/>
                <a:sym typeface="Dumondi Condensed"/>
              </a:rPr>
              <a:t>"El automóvil tiene problemas con el motor"</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                    ↓</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              Embedding</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                    ↓</a:t>
            </a:r>
          </a:p>
          <a:p>
            <a:pPr algn="l">
              <a:lnSpc>
                <a:spcPts val="2660"/>
              </a:lnSpc>
              <a:spcBef>
                <a:spcPct val="0"/>
              </a:spcBef>
            </a:pPr>
            <a:r>
              <a:rPr lang="en-US" sz="1900">
                <a:solidFill>
                  <a:srgbClr val="05061C"/>
                </a:solidFill>
                <a:latin typeface="Dumondi Condensed"/>
                <a:ea typeface="Dumondi Condensed"/>
                <a:cs typeface="Dumondi Condensed"/>
                <a:sym typeface="Dumondi Condensed"/>
              </a:rPr>
              <a:t>[0.12, -0.43, 0.87, ...]</a:t>
            </a:r>
          </a:p>
          <a:p>
            <a:pPr algn="l">
              <a:lnSpc>
                <a:spcPts val="2660"/>
              </a:lnSpc>
              <a:spcBef>
                <a:spcPct val="0"/>
              </a:spcBef>
            </a:pPr>
          </a:p>
          <a:p>
            <a:pPr algn="l">
              <a:lnSpc>
                <a:spcPts val="2660"/>
              </a:lnSpc>
              <a:spcBef>
                <a:spcPct val="0"/>
              </a:spcBef>
            </a:pPr>
            <a:r>
              <a:rPr lang="en-US" sz="1900">
                <a:solidFill>
                  <a:srgbClr val="05061C"/>
                </a:solidFill>
                <a:latin typeface="Dumondi Condensed"/>
                <a:ea typeface="Dumondi Condensed"/>
                <a:cs typeface="Dumondi Condensed"/>
                <a:sym typeface="Dumondi Condensed"/>
              </a:rPr>
              <a:t>Se conecta con: documentos.mjs y buscador.mjs.</a:t>
            </a:r>
          </a:p>
          <a:p>
            <a:pPr algn="l">
              <a:lnSpc>
                <a:spcPts val="224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65363" y="2817704"/>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EXPLICACION PARTES DEL PROYECTO</a:t>
            </a:r>
          </a:p>
        </p:txBody>
      </p:sp>
      <p:sp>
        <p:nvSpPr>
          <p:cNvPr name="TextBox 3" id="3"/>
          <p:cNvSpPr txBox="true"/>
          <p:nvPr/>
        </p:nvSpPr>
        <p:spPr>
          <a:xfrm rot="0">
            <a:off x="1620581" y="4035397"/>
            <a:ext cx="6488426" cy="4178978"/>
          </a:xfrm>
          <a:prstGeom prst="rect">
            <a:avLst/>
          </a:prstGeom>
        </p:spPr>
        <p:txBody>
          <a:bodyPr anchor="t" rtlCol="false" tIns="0" lIns="0" bIns="0" rIns="0">
            <a:spAutoFit/>
          </a:bodyPr>
          <a:lstStyle/>
          <a:p>
            <a:pPr algn="l">
              <a:lnSpc>
                <a:spcPts val="2801"/>
              </a:lnSpc>
            </a:pPr>
            <a:r>
              <a:rPr lang="en-US" sz="2106" b="true">
                <a:solidFill>
                  <a:srgbClr val="05061C"/>
                </a:solidFill>
                <a:latin typeface="Dumondi Condensed Bold"/>
                <a:ea typeface="Dumondi Condensed Bold"/>
                <a:cs typeface="Dumondi Condensed Bold"/>
                <a:sym typeface="Dumondi Condensed Bold"/>
              </a:rPr>
              <a:t>5. Buscador semántico — buscador.mj</a:t>
            </a:r>
            <a:r>
              <a:rPr lang="en-US" sz="2106" b="true">
                <a:solidFill>
                  <a:srgbClr val="05061C"/>
                </a:solidFill>
                <a:latin typeface="Dumondi Condensed Bold"/>
                <a:ea typeface="Dumondi Condensed Bold"/>
                <a:cs typeface="Dumondi Condensed Bold"/>
                <a:sym typeface="Dumondi Condensed Bold"/>
              </a:rPr>
              <a:t>s</a:t>
            </a:r>
          </a:p>
          <a:p>
            <a:pPr algn="l">
              <a:lnSpc>
                <a:spcPts val="1870"/>
              </a:lnSpc>
            </a:pPr>
            <a:r>
              <a:rPr lang="en-US" sz="1406">
                <a:solidFill>
                  <a:srgbClr val="05061C"/>
                </a:solidFill>
                <a:latin typeface="Dumondi Condensed"/>
                <a:ea typeface="Dumondi Condensed"/>
                <a:cs typeface="Dumondi Condensed"/>
                <a:sym typeface="Dumondi Condensed"/>
              </a:rPr>
              <a:t>Es </a:t>
            </a:r>
            <a:r>
              <a:rPr lang="en-US" sz="1406">
                <a:solidFill>
                  <a:srgbClr val="05061C"/>
                </a:solidFill>
                <a:latin typeface="Dumondi Condensed"/>
                <a:ea typeface="Dumondi Condensed"/>
                <a:cs typeface="Dumondi Condensed"/>
                <a:sym typeface="Dumondi Condensed"/>
              </a:rPr>
              <a:t>el cerebro de la búsqueda.</a:t>
            </a:r>
          </a:p>
          <a:p>
            <a:pPr algn="l">
              <a:lnSpc>
                <a:spcPts val="1870"/>
              </a:lnSpc>
            </a:pPr>
            <a:r>
              <a:rPr lang="en-US" sz="1406">
                <a:solidFill>
                  <a:srgbClr val="05061C"/>
                </a:solidFill>
                <a:latin typeface="Dumondi Condensed"/>
                <a:ea typeface="Dumondi Condensed"/>
                <a:cs typeface="Dumondi Condensed"/>
                <a:sym typeface="Dumondi Condensed"/>
              </a:rPr>
              <a:t>Cuando el usuario escribe una consulta:</a:t>
            </a:r>
          </a:p>
          <a:p>
            <a:pPr algn="l">
              <a:lnSpc>
                <a:spcPts val="1870"/>
              </a:lnSpc>
            </a:pPr>
          </a:p>
          <a:p>
            <a:pPr algn="l">
              <a:lnSpc>
                <a:spcPts val="1870"/>
              </a:lnSpc>
            </a:pPr>
            <a:r>
              <a:rPr lang="en-US" sz="1406">
                <a:solidFill>
                  <a:srgbClr val="05061C"/>
                </a:solidFill>
                <a:latin typeface="Dumondi Condensed"/>
                <a:ea typeface="Dumondi Condensed"/>
                <a:cs typeface="Dumondi Condensed"/>
                <a:sym typeface="Dumondi Condensed"/>
              </a:rPr>
              <a:t>"problemas del vehículo"</a:t>
            </a:r>
          </a:p>
          <a:p>
            <a:pPr algn="l">
              <a:lnSpc>
                <a:spcPts val="1870"/>
              </a:lnSpc>
            </a:pPr>
          </a:p>
          <a:p>
            <a:pPr algn="l">
              <a:lnSpc>
                <a:spcPts val="1870"/>
              </a:lnSpc>
            </a:pPr>
            <a:r>
              <a:rPr lang="en-US" sz="1406">
                <a:solidFill>
                  <a:srgbClr val="05061C"/>
                </a:solidFill>
                <a:latin typeface="Dumondi Condensed"/>
                <a:ea typeface="Dumondi Condensed"/>
                <a:cs typeface="Dumondi Condensed"/>
                <a:sym typeface="Dumondi Condensed"/>
              </a:rPr>
              <a:t>el sistema también convierte esa consu</a:t>
            </a:r>
            <a:r>
              <a:rPr lang="en-US" sz="1406">
                <a:solidFill>
                  <a:srgbClr val="05061C"/>
                </a:solidFill>
                <a:latin typeface="Dumondi Condensed"/>
                <a:ea typeface="Dumondi Condensed"/>
                <a:cs typeface="Dumondi Condensed"/>
                <a:sym typeface="Dumondi Condensed"/>
              </a:rPr>
              <a:t>lta en un </a:t>
            </a:r>
            <a:r>
              <a:rPr lang="en-US" sz="1406">
                <a:solidFill>
                  <a:srgbClr val="05061C"/>
                </a:solidFill>
                <a:latin typeface="Dumondi Condensed"/>
                <a:ea typeface="Dumondi Condensed"/>
                <a:cs typeface="Dumondi Condensed"/>
                <a:sym typeface="Dumondi Condensed"/>
              </a:rPr>
              <a:t>embedding.</a:t>
            </a:r>
          </a:p>
          <a:p>
            <a:pPr algn="l">
              <a:lnSpc>
                <a:spcPts val="1870"/>
              </a:lnSpc>
            </a:pPr>
            <a:r>
              <a:rPr lang="en-US" sz="1406">
                <a:solidFill>
                  <a:srgbClr val="05061C"/>
                </a:solidFill>
                <a:latin typeface="Dumondi Condensed"/>
                <a:ea typeface="Dumondi Condensed"/>
                <a:cs typeface="Dumondi Condensed"/>
                <a:sym typeface="Dumondi Condensed"/>
              </a:rPr>
              <a:t>Después compara:</a:t>
            </a:r>
          </a:p>
          <a:p>
            <a:pPr algn="l">
              <a:lnSpc>
                <a:spcPts val="1870"/>
              </a:lnSpc>
            </a:pPr>
          </a:p>
          <a:p>
            <a:pPr algn="l">
              <a:lnSpc>
                <a:spcPts val="1870"/>
              </a:lnSpc>
            </a:pPr>
            <a:r>
              <a:rPr lang="en-US" sz="1406">
                <a:solidFill>
                  <a:srgbClr val="05061C"/>
                </a:solidFill>
                <a:latin typeface="Dumondi Condensed"/>
                <a:ea typeface="Dumondi Condensed"/>
                <a:cs typeface="Dumondi Condensed"/>
                <a:sym typeface="Dumondi Condensed"/>
              </a:rPr>
              <a:t>Embedding de la consulta</a:t>
            </a:r>
          </a:p>
          <a:p>
            <a:pPr algn="l">
              <a:lnSpc>
                <a:spcPts val="1870"/>
              </a:lnSpc>
            </a:pPr>
            <a:r>
              <a:rPr lang="en-US" sz="1406">
                <a:solidFill>
                  <a:srgbClr val="05061C"/>
                </a:solidFill>
                <a:latin typeface="Dumondi Condensed"/>
                <a:ea typeface="Dumondi Condensed"/>
                <a:cs typeface="Dumondi Condensed"/>
                <a:sym typeface="Dumondi Condensed"/>
              </a:rPr>
              <a:t> </a:t>
            </a:r>
            <a:r>
              <a:rPr lang="en-US" sz="1406">
                <a:solidFill>
                  <a:srgbClr val="05061C"/>
                </a:solidFill>
                <a:latin typeface="Dumondi Condensed"/>
                <a:ea typeface="Dumondi Condensed"/>
                <a:cs typeface="Dumondi Condensed"/>
                <a:sym typeface="Dumondi Condensed"/>
              </a:rPr>
              <a:t>         </a:t>
            </a:r>
            <a:r>
              <a:rPr lang="en-US" sz="1406">
                <a:solidFill>
                  <a:srgbClr val="05061C"/>
                </a:solidFill>
                <a:latin typeface="Dumondi Condensed"/>
                <a:ea typeface="Dumondi Condensed"/>
                <a:cs typeface="Dumondi Condensed"/>
                <a:sym typeface="Dumondi Condensed"/>
              </a:rPr>
              <a:t> ↓</a:t>
            </a:r>
          </a:p>
          <a:p>
            <a:pPr algn="l">
              <a:lnSpc>
                <a:spcPts val="1870"/>
              </a:lnSpc>
            </a:pPr>
            <a:r>
              <a:rPr lang="en-US" sz="1406">
                <a:solidFill>
                  <a:srgbClr val="05061C"/>
                </a:solidFill>
                <a:latin typeface="Dumondi Condensed"/>
                <a:ea typeface="Dumondi Condensed"/>
                <a:cs typeface="Dumondi Condensed"/>
                <a:sym typeface="Dumondi Condensed"/>
              </a:rPr>
              <a:t>     </a:t>
            </a:r>
            <a:r>
              <a:rPr lang="en-US" sz="1406">
                <a:solidFill>
                  <a:srgbClr val="05061C"/>
                </a:solidFill>
                <a:latin typeface="Dumondi Condensed"/>
                <a:ea typeface="Dumondi Condensed"/>
                <a:cs typeface="Dumondi Condensed"/>
                <a:sym typeface="Dumondi Condensed"/>
              </a:rPr>
              <a:t> Similitud coseno</a:t>
            </a:r>
          </a:p>
          <a:p>
            <a:pPr algn="l">
              <a:lnSpc>
                <a:spcPts val="1870"/>
              </a:lnSpc>
            </a:pPr>
            <a:r>
              <a:rPr lang="en-US" sz="1406">
                <a:solidFill>
                  <a:srgbClr val="05061C"/>
                </a:solidFill>
                <a:latin typeface="Dumondi Condensed"/>
                <a:ea typeface="Dumondi Condensed"/>
                <a:cs typeface="Dumondi Condensed"/>
                <a:sym typeface="Dumondi Condensed"/>
              </a:rPr>
              <a:t>           ↓</a:t>
            </a:r>
          </a:p>
          <a:p>
            <a:pPr algn="l">
              <a:lnSpc>
                <a:spcPts val="1870"/>
              </a:lnSpc>
            </a:pPr>
            <a:r>
              <a:rPr lang="en-US" sz="1406">
                <a:solidFill>
                  <a:srgbClr val="05061C"/>
                </a:solidFill>
                <a:latin typeface="Dumondi Condensed"/>
                <a:ea typeface="Dumondi Condensed"/>
                <a:cs typeface="Dumondi Condensed"/>
                <a:sym typeface="Dumondi Condensed"/>
              </a:rPr>
              <a:t>Embeddings de los documentos</a:t>
            </a:r>
          </a:p>
          <a:p>
            <a:pPr algn="l">
              <a:lnSpc>
                <a:spcPts val="1870"/>
              </a:lnSpc>
            </a:pPr>
          </a:p>
          <a:p>
            <a:pPr algn="l">
              <a:lnSpc>
                <a:spcPts val="1870"/>
              </a:lnSpc>
            </a:pPr>
            <a:r>
              <a:rPr lang="en-US" sz="1406">
                <a:solidFill>
                  <a:srgbClr val="05061C"/>
                </a:solidFill>
                <a:latin typeface="Dumondi Condensed"/>
                <a:ea typeface="Dumondi Condensed"/>
                <a:cs typeface="Dumondi Condensed"/>
                <a:sym typeface="Dumondi Condensed"/>
              </a:rPr>
              <a:t>F</a:t>
            </a:r>
            <a:r>
              <a:rPr lang="en-US" sz="1406">
                <a:solidFill>
                  <a:srgbClr val="05061C"/>
                </a:solidFill>
                <a:latin typeface="Dumondi Condensed"/>
                <a:ea typeface="Dumondi Condensed"/>
                <a:cs typeface="Dumondi Condensed"/>
                <a:sym typeface="Dumondi Condensed"/>
              </a:rPr>
              <a:t>inalmente ordena los fragmentos según su similitud y devuelve los resultados más relevantes (Top-K).</a:t>
            </a:r>
          </a:p>
          <a:p>
            <a:pPr algn="l">
              <a:lnSpc>
                <a:spcPts val="1870"/>
              </a:lnSpc>
            </a:pPr>
            <a:r>
              <a:rPr lang="en-US" sz="1406">
                <a:solidFill>
                  <a:srgbClr val="05061C"/>
                </a:solidFill>
                <a:latin typeface="Dumondi Condensed"/>
                <a:ea typeface="Dumondi Condensed"/>
                <a:cs typeface="Dumondi Condensed"/>
                <a:sym typeface="Dumondi Condensed"/>
              </a:rPr>
              <a:t>Se conecta con: embeddings.mjs e interfaz.mjs.</a:t>
            </a:r>
          </a:p>
          <a:p>
            <a:pPr algn="l">
              <a:lnSpc>
                <a:spcPts val="939"/>
              </a:lnSpc>
            </a:pPr>
          </a:p>
        </p:txBody>
      </p:sp>
      <p:sp>
        <p:nvSpPr>
          <p:cNvPr name="Freeform 4" id="4"/>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9665101" y="3761967"/>
            <a:ext cx="5574745" cy="5288280"/>
          </a:xfrm>
          <a:prstGeom prst="rect">
            <a:avLst/>
          </a:prstGeom>
        </p:spPr>
        <p:txBody>
          <a:bodyPr anchor="t" rtlCol="false" tIns="0" lIns="0" bIns="0" rIns="0">
            <a:spAutoFit/>
          </a:bodyPr>
          <a:lstStyle/>
          <a:p>
            <a:pPr algn="l">
              <a:lnSpc>
                <a:spcPts val="2520"/>
              </a:lnSpc>
              <a:spcBef>
                <a:spcPct val="0"/>
              </a:spcBef>
            </a:pPr>
            <a:r>
              <a:rPr lang="en-US" b="true" sz="1800">
                <a:solidFill>
                  <a:srgbClr val="05061C"/>
                </a:solidFill>
                <a:latin typeface="Dumondi Condensed Bold"/>
                <a:ea typeface="Dumondi Condensed Bold"/>
                <a:cs typeface="Dumondi Condensed Bold"/>
                <a:sym typeface="Dumondi Condensed Bold"/>
              </a:rPr>
              <a:t>6</a:t>
            </a:r>
            <a:r>
              <a:rPr lang="en-US" b="true" sz="1800">
                <a:solidFill>
                  <a:srgbClr val="05061C"/>
                </a:solidFill>
                <a:latin typeface="Dumondi Condensed Bold"/>
                <a:ea typeface="Dumondi Condensed Bold"/>
                <a:cs typeface="Dumondi Condensed Bold"/>
                <a:sym typeface="Dumondi Condensed Bold"/>
              </a:rPr>
              <a:t>. Interfaz de resultados — interfaz.mjs</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Recib</a:t>
            </a:r>
            <a:r>
              <a:rPr lang="en-US" sz="1800">
                <a:solidFill>
                  <a:srgbClr val="05061C"/>
                </a:solidFill>
                <a:latin typeface="Dumondi Condensed"/>
                <a:ea typeface="Dumondi Condensed"/>
                <a:cs typeface="Dumondi Condensed"/>
                <a:sym typeface="Dumondi Condensed"/>
              </a:rPr>
              <a:t>e los resultados del buscador y los muestra de manera visual.</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Por ejemplo:</a:t>
            </a:r>
          </a:p>
          <a:p>
            <a:pPr algn="l">
              <a:lnSpc>
                <a:spcPts val="2520"/>
              </a:lnSpc>
              <a:spcBef>
                <a:spcPct val="0"/>
              </a:spcBef>
            </a:pPr>
          </a:p>
          <a:p>
            <a:pPr algn="l">
              <a:lnSpc>
                <a:spcPts val="2520"/>
              </a:lnSpc>
              <a:spcBef>
                <a:spcPct val="0"/>
              </a:spcBef>
            </a:pPr>
            <a:r>
              <a:rPr lang="en-US" sz="1800">
                <a:solidFill>
                  <a:srgbClr val="05061C"/>
                </a:solidFill>
                <a:latin typeface="Dumondi Condensed"/>
                <a:ea typeface="Dumondi Condensed"/>
                <a:cs typeface="Dumondi Condensed"/>
                <a:sym typeface="Dumondi Condensed"/>
              </a:rPr>
              <a:t>Resultado 1</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Documento: informe.pdf</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Fragmento: 3</a:t>
            </a:r>
          </a:p>
          <a:p>
            <a:pPr algn="l">
              <a:lnSpc>
                <a:spcPts val="2240"/>
              </a:lnSpc>
              <a:spcBef>
                <a:spcPct val="0"/>
              </a:spcBef>
            </a:pPr>
            <a:r>
              <a:rPr lang="en-US" sz="1600">
                <a:solidFill>
                  <a:srgbClr val="05061C"/>
                </a:solidFill>
                <a:latin typeface="Dumondi Condensed"/>
                <a:ea typeface="Dumondi Condensed"/>
                <a:cs typeface="Dumondi Condensed"/>
                <a:sym typeface="Dumondi Condensed"/>
              </a:rPr>
              <a:t>Similitud: 91 %</a:t>
            </a:r>
          </a:p>
          <a:p>
            <a:pPr algn="l">
              <a:lnSpc>
                <a:spcPts val="2520"/>
              </a:lnSpc>
              <a:spcBef>
                <a:spcPct val="0"/>
              </a:spcBef>
            </a:pPr>
          </a:p>
          <a:p>
            <a:pPr algn="l">
              <a:lnSpc>
                <a:spcPts val="2520"/>
              </a:lnSpc>
              <a:spcBef>
                <a:spcPct val="0"/>
              </a:spcBef>
            </a:pPr>
            <a:r>
              <a:rPr lang="en-US" sz="1800">
                <a:solidFill>
                  <a:srgbClr val="05061C"/>
                </a:solidFill>
                <a:latin typeface="Dumondi Condensed"/>
                <a:ea typeface="Dumondi Condensed"/>
                <a:cs typeface="Dumondi Condensed"/>
                <a:sym typeface="Dumondi Condensed"/>
              </a:rPr>
              <a:t>Resultado 2</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Documento: apuntes.txt</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Fragmento: 7</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Similitud: 84 %</a:t>
            </a:r>
          </a:p>
          <a:p>
            <a:pPr algn="l">
              <a:lnSpc>
                <a:spcPts val="2520"/>
              </a:lnSpc>
              <a:spcBef>
                <a:spcPct val="0"/>
              </a:spcBef>
            </a:pPr>
          </a:p>
          <a:p>
            <a:pPr algn="l">
              <a:lnSpc>
                <a:spcPts val="2520"/>
              </a:lnSpc>
              <a:spcBef>
                <a:spcPct val="0"/>
              </a:spcBef>
            </a:pPr>
            <a:r>
              <a:rPr lang="en-US" sz="1800">
                <a:solidFill>
                  <a:srgbClr val="05061C"/>
                </a:solidFill>
                <a:latin typeface="Dumondi Condensed"/>
                <a:ea typeface="Dumondi Condensed"/>
                <a:cs typeface="Dumondi Condensed"/>
                <a:sym typeface="Dumondi Condensed"/>
              </a:rPr>
              <a:t>Así el usuario puede identificar rápidamente dónde está la información que busca.</a:t>
            </a:r>
          </a:p>
          <a:p>
            <a:pPr algn="l">
              <a:lnSpc>
                <a:spcPts val="2520"/>
              </a:lnSpc>
              <a:spcBef>
                <a:spcPct val="0"/>
              </a:spcBef>
            </a:pPr>
            <a:r>
              <a:rPr lang="en-US" sz="1800">
                <a:solidFill>
                  <a:srgbClr val="05061C"/>
                </a:solidFill>
                <a:latin typeface="Dumondi Condensed"/>
                <a:ea typeface="Dumondi Condensed"/>
                <a:cs typeface="Dumondi Condensed"/>
                <a:sym typeface="Dumondi Condensed"/>
              </a:rPr>
              <a:t>Se conecta con: buscador.mjs y index.html.</a:t>
            </a:r>
          </a:p>
          <a:p>
            <a:pPr algn="l">
              <a:lnSpc>
                <a:spcPts val="252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65363" y="2817704"/>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EXPLICACION PARTES DEL PROYECTO</a:t>
            </a:r>
          </a:p>
        </p:txBody>
      </p:sp>
      <p:sp>
        <p:nvSpPr>
          <p:cNvPr name="TextBox 3" id="3"/>
          <p:cNvSpPr txBox="true"/>
          <p:nvPr/>
        </p:nvSpPr>
        <p:spPr>
          <a:xfrm rot="0">
            <a:off x="4142080" y="4320148"/>
            <a:ext cx="11736340" cy="2830592"/>
          </a:xfrm>
          <a:prstGeom prst="rect">
            <a:avLst/>
          </a:prstGeom>
        </p:spPr>
        <p:txBody>
          <a:bodyPr anchor="t" rtlCol="false" tIns="0" lIns="0" bIns="0" rIns="0">
            <a:spAutoFit/>
          </a:bodyPr>
          <a:lstStyle/>
          <a:p>
            <a:pPr algn="l">
              <a:lnSpc>
                <a:spcPts val="3333"/>
              </a:lnSpc>
            </a:pPr>
            <a:r>
              <a:rPr lang="en-US" sz="2506" b="true">
                <a:solidFill>
                  <a:srgbClr val="05061C"/>
                </a:solidFill>
                <a:latin typeface="Dumondi Condensed Bold"/>
                <a:ea typeface="Dumondi Condensed Bold"/>
                <a:cs typeface="Dumondi Condensed Bold"/>
                <a:sym typeface="Dumondi Condensed Bold"/>
              </a:rPr>
              <a:t>7. Almacenamiento local — almacenamiento.mj</a:t>
            </a:r>
            <a:r>
              <a:rPr lang="en-US" sz="2506" b="true">
                <a:solidFill>
                  <a:srgbClr val="05061C"/>
                </a:solidFill>
                <a:latin typeface="Dumondi Condensed Bold"/>
                <a:ea typeface="Dumondi Condensed Bold"/>
                <a:cs typeface="Dumondi Condensed Bold"/>
                <a:sym typeface="Dumondi Condensed Bold"/>
              </a:rPr>
              <a:t>s</a:t>
            </a:r>
          </a:p>
          <a:p>
            <a:pPr algn="l">
              <a:lnSpc>
                <a:spcPts val="3333"/>
              </a:lnSpc>
            </a:pPr>
            <a:r>
              <a:rPr lang="en-US" sz="2506">
                <a:solidFill>
                  <a:srgbClr val="05061C"/>
                </a:solidFill>
                <a:latin typeface="Dumondi Condensed"/>
                <a:ea typeface="Dumondi Condensed"/>
                <a:cs typeface="Dumondi Condensed"/>
                <a:sym typeface="Dumondi Condensed"/>
              </a:rPr>
              <a:t>Se utiliza para guardar información de configuración del usuario en el navegado</a:t>
            </a:r>
            <a:r>
              <a:rPr lang="en-US" sz="2506">
                <a:solidFill>
                  <a:srgbClr val="05061C"/>
                </a:solidFill>
                <a:latin typeface="Dumondi Condensed"/>
                <a:ea typeface="Dumondi Condensed"/>
                <a:cs typeface="Dumondi Condensed"/>
                <a:sym typeface="Dumondi Condensed"/>
              </a:rPr>
              <a:t>r, como pref</a:t>
            </a:r>
            <a:r>
              <a:rPr lang="en-US" sz="2506">
                <a:solidFill>
                  <a:srgbClr val="05061C"/>
                </a:solidFill>
                <a:latin typeface="Dumondi Condensed"/>
                <a:ea typeface="Dumondi Condensed"/>
                <a:cs typeface="Dumondi Condensed"/>
                <a:sym typeface="Dumondi Condensed"/>
              </a:rPr>
              <a:t>erencias relacionadas con</a:t>
            </a:r>
            <a:r>
              <a:rPr lang="en-US" sz="2506">
                <a:solidFill>
                  <a:srgbClr val="05061C"/>
                </a:solidFill>
                <a:latin typeface="Dumondi Condensed"/>
                <a:ea typeface="Dumondi Condensed"/>
                <a:cs typeface="Dumondi Condensed"/>
                <a:sym typeface="Dumondi Condensed"/>
              </a:rPr>
              <a:t> </a:t>
            </a:r>
            <a:r>
              <a:rPr lang="en-US" sz="2506">
                <a:solidFill>
                  <a:srgbClr val="05061C"/>
                </a:solidFill>
                <a:latin typeface="Dumondi Condensed"/>
                <a:ea typeface="Dumondi Condensed"/>
                <a:cs typeface="Dumondi Condensed"/>
                <a:sym typeface="Dumondi Condensed"/>
              </a:rPr>
              <a:t>la búsqueda.</a:t>
            </a:r>
          </a:p>
          <a:p>
            <a:pPr algn="l">
              <a:lnSpc>
                <a:spcPts val="3333"/>
              </a:lnSpc>
            </a:pPr>
            <a:r>
              <a:rPr lang="en-US" sz="2506">
                <a:solidFill>
                  <a:srgbClr val="05061C"/>
                </a:solidFill>
                <a:latin typeface="Dumondi Condensed"/>
                <a:ea typeface="Dumondi Condensed"/>
                <a:cs typeface="Dumondi Condensed"/>
                <a:sym typeface="Dumondi Condensed"/>
              </a:rPr>
              <a:t>Utiliza:</a:t>
            </a:r>
          </a:p>
          <a:p>
            <a:pPr algn="l">
              <a:lnSpc>
                <a:spcPts val="3333"/>
              </a:lnSpc>
            </a:pPr>
            <a:r>
              <a:rPr lang="en-US" sz="2506">
                <a:solidFill>
                  <a:srgbClr val="05061C"/>
                </a:solidFill>
                <a:latin typeface="Dumondi Condensed"/>
                <a:ea typeface="Dumondi Condensed"/>
                <a:cs typeface="Dumondi Condensed"/>
                <a:sym typeface="Dumondi Condensed"/>
              </a:rPr>
              <a:t>localStorage</a:t>
            </a:r>
          </a:p>
          <a:p>
            <a:pPr algn="l">
              <a:lnSpc>
                <a:spcPts val="3333"/>
              </a:lnSpc>
            </a:pPr>
            <a:r>
              <a:rPr lang="en-US" sz="2506">
                <a:solidFill>
                  <a:srgbClr val="05061C"/>
                </a:solidFill>
                <a:latin typeface="Dumondi Condensed"/>
                <a:ea typeface="Dumondi Condensed"/>
                <a:cs typeface="Dumondi Condensed"/>
                <a:sym typeface="Dumondi Condensed"/>
              </a:rPr>
              <a:t>Esto permite mantener determinadas configuracio</a:t>
            </a:r>
            <a:r>
              <a:rPr lang="en-US" sz="2506">
                <a:solidFill>
                  <a:srgbClr val="05061C"/>
                </a:solidFill>
                <a:latin typeface="Dumondi Condensed"/>
                <a:ea typeface="Dumondi Condensed"/>
                <a:cs typeface="Dumondi Condensed"/>
                <a:sym typeface="Dumondi Condensed"/>
              </a:rPr>
              <a:t>n</a:t>
            </a:r>
            <a:r>
              <a:rPr lang="en-US" sz="2506">
                <a:solidFill>
                  <a:srgbClr val="05061C"/>
                </a:solidFill>
                <a:latin typeface="Dumondi Condensed"/>
                <a:ea typeface="Dumondi Condensed"/>
                <a:cs typeface="Dumondi Condensed"/>
                <a:sym typeface="Dumondi Condensed"/>
              </a:rPr>
              <a:t>es sin utilizar una base de datos externa.</a:t>
            </a:r>
          </a:p>
          <a:p>
            <a:pPr algn="l">
              <a:lnSpc>
                <a:spcPts val="2535"/>
              </a:lnSpc>
            </a:pPr>
          </a:p>
        </p:txBody>
      </p:sp>
      <p:sp>
        <p:nvSpPr>
          <p:cNvPr name="Freeform 4" id="4"/>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477024" y="0"/>
            <a:ext cx="16231848" cy="10290580"/>
          </a:xfrm>
          <a:custGeom>
            <a:avLst/>
            <a:gdLst/>
            <a:ahLst/>
            <a:cxnLst/>
            <a:rect r="r" b="b" t="t" l="l"/>
            <a:pathLst>
              <a:path h="10290580" w="16231848">
                <a:moveTo>
                  <a:pt x="0" y="0"/>
                </a:moveTo>
                <a:lnTo>
                  <a:pt x="16231847" y="0"/>
                </a:lnTo>
                <a:lnTo>
                  <a:pt x="16231847" y="10290580"/>
                </a:lnTo>
                <a:lnTo>
                  <a:pt x="0" y="10290580"/>
                </a:lnTo>
                <a:lnTo>
                  <a:pt x="0" y="0"/>
                </a:lnTo>
                <a:close/>
              </a:path>
            </a:pathLst>
          </a:custGeom>
          <a:blipFill>
            <a:blip r:embed="rId20"/>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TextBox 2" id="2"/>
          <p:cNvSpPr txBox="true"/>
          <p:nvPr/>
        </p:nvSpPr>
        <p:spPr>
          <a:xfrm rot="0">
            <a:off x="798624" y="4069585"/>
            <a:ext cx="16690753" cy="1416318"/>
          </a:xfrm>
          <a:prstGeom prst="rect">
            <a:avLst/>
          </a:prstGeom>
        </p:spPr>
        <p:txBody>
          <a:bodyPr anchor="t" rtlCol="false" tIns="0" lIns="0" bIns="0" rIns="0">
            <a:spAutoFit/>
          </a:bodyPr>
          <a:lstStyle/>
          <a:p>
            <a:pPr algn="ctr" marL="0" indent="0" lvl="0">
              <a:lnSpc>
                <a:spcPts val="10432"/>
              </a:lnSpc>
            </a:pPr>
            <a:r>
              <a:rPr lang="en-US" b="true" sz="11464">
                <a:solidFill>
                  <a:srgbClr val="05061C"/>
                </a:solidFill>
                <a:latin typeface="Dumondi Condensed Heavy"/>
                <a:ea typeface="Dumondi Condensed Heavy"/>
                <a:cs typeface="Dumondi Condensed Heavy"/>
                <a:sym typeface="Dumondi Condensed Heavy"/>
              </a:rPr>
              <a:t>EXPLICACION TECNICA</a:t>
            </a:r>
          </a:p>
        </p:txBody>
      </p:sp>
      <p:sp>
        <p:nvSpPr>
          <p:cNvPr name="Freeform 3" id="3"/>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2" id="12"/>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132126"/>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DESICION 1</a:t>
            </a:r>
          </a:p>
        </p:txBody>
      </p:sp>
      <p:sp>
        <p:nvSpPr>
          <p:cNvPr name="Freeform 3" id="3"/>
          <p:cNvSpPr/>
          <p:nvPr/>
        </p:nvSpPr>
        <p:spPr>
          <a:xfrm flipH="false" flipV="false" rot="0">
            <a:off x="2833107" y="8297361"/>
            <a:ext cx="2617945" cy="1989639"/>
          </a:xfrm>
          <a:custGeom>
            <a:avLst/>
            <a:gdLst/>
            <a:ahLst/>
            <a:cxnLst/>
            <a:rect r="r" b="b" t="t" l="l"/>
            <a:pathLst>
              <a:path h="1989639" w="2617945">
                <a:moveTo>
                  <a:pt x="0" y="0"/>
                </a:moveTo>
                <a:lnTo>
                  <a:pt x="2617946" y="0"/>
                </a:lnTo>
                <a:lnTo>
                  <a:pt x="2617946"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768593" y="3349818"/>
            <a:ext cx="6801759" cy="3707773"/>
          </a:xfrm>
          <a:prstGeom prst="rect">
            <a:avLst/>
          </a:prstGeom>
        </p:spPr>
        <p:txBody>
          <a:bodyPr anchor="t" rtlCol="false" tIns="0" lIns="0" bIns="0" rIns="0">
            <a:spAutoFit/>
          </a:bodyPr>
          <a:lstStyle/>
          <a:p>
            <a:pPr algn="l">
              <a:lnSpc>
                <a:spcPts val="2660"/>
              </a:lnSpc>
            </a:pPr>
            <a:r>
              <a:rPr lang="en-US" sz="2000" b="true">
                <a:solidFill>
                  <a:srgbClr val="05061C"/>
                </a:solidFill>
                <a:latin typeface="Canva Sans Bold"/>
                <a:ea typeface="Canva Sans Bold"/>
                <a:cs typeface="Canva Sans Bold"/>
                <a:sym typeface="Canva Sans Bold"/>
              </a:rPr>
              <a:t>DOM y manejo de eventos — eventos.mjs</a:t>
            </a:r>
          </a:p>
          <a:p>
            <a:pPr algn="l">
              <a:lnSpc>
                <a:spcPts val="2660"/>
              </a:lnSpc>
            </a:pPr>
            <a:r>
              <a:rPr lang="en-US" sz="2000">
                <a:solidFill>
                  <a:srgbClr val="05061C"/>
                </a:solidFill>
                <a:latin typeface="Canva Sans"/>
                <a:ea typeface="Canva Sans"/>
                <a:cs typeface="Canva Sans"/>
                <a:sym typeface="Canva Sans"/>
              </a:rPr>
              <a:t>Una decisión importante fue separar la gestión de eventos de la interfaz visual.</a:t>
            </a:r>
          </a:p>
          <a:p>
            <a:pPr algn="l">
              <a:lnSpc>
                <a:spcPts val="2660"/>
              </a:lnSpc>
            </a:pPr>
            <a:r>
              <a:rPr lang="en-US" sz="2000">
                <a:solidFill>
                  <a:srgbClr val="05061C"/>
                </a:solidFill>
                <a:latin typeface="Canva Sans"/>
                <a:ea typeface="Canva Sans"/>
                <a:cs typeface="Canva Sans"/>
                <a:sym typeface="Canva Sans"/>
              </a:rPr>
              <a:t>El archivo eventos.mjs controla acciones como:</a:t>
            </a:r>
          </a:p>
          <a:p>
            <a:pPr algn="l" marL="431801" indent="-215900" lvl="1">
              <a:lnSpc>
                <a:spcPts val="2660"/>
              </a:lnSpc>
              <a:buFont typeface="Arial"/>
              <a:buChar char="•"/>
            </a:pPr>
            <a:r>
              <a:rPr lang="en-US" sz="2000">
                <a:solidFill>
                  <a:srgbClr val="05061C"/>
                </a:solidFill>
                <a:latin typeface="Canva Sans"/>
                <a:ea typeface="Canva Sans"/>
                <a:cs typeface="Canva Sans"/>
                <a:sym typeface="Canva Sans"/>
              </a:rPr>
              <a:t>Seleccionar archivos.</a:t>
            </a:r>
          </a:p>
          <a:p>
            <a:pPr algn="l" marL="431801" indent="-215900" lvl="1">
              <a:lnSpc>
                <a:spcPts val="2660"/>
              </a:lnSpc>
              <a:buFont typeface="Arial"/>
              <a:buChar char="•"/>
            </a:pPr>
            <a:r>
              <a:rPr lang="en-US" sz="2000">
                <a:solidFill>
                  <a:srgbClr val="05061C"/>
                </a:solidFill>
                <a:latin typeface="Canva Sans"/>
                <a:ea typeface="Canva Sans"/>
                <a:cs typeface="Canva Sans"/>
                <a:sym typeface="Canva Sans"/>
              </a:rPr>
              <a:t>Arrastrar y soltar documentos.</a:t>
            </a:r>
          </a:p>
          <a:p>
            <a:pPr algn="l" marL="431801" indent="-215900" lvl="1">
              <a:lnSpc>
                <a:spcPts val="2660"/>
              </a:lnSpc>
              <a:buFont typeface="Arial"/>
              <a:buChar char="•"/>
            </a:pPr>
            <a:r>
              <a:rPr lang="en-US" sz="2000">
                <a:solidFill>
                  <a:srgbClr val="05061C"/>
                </a:solidFill>
                <a:latin typeface="Canva Sans"/>
                <a:ea typeface="Canva Sans"/>
                <a:cs typeface="Canva Sans"/>
                <a:sym typeface="Canva Sans"/>
              </a:rPr>
              <a:t>Ejecutar una búsqueda.</a:t>
            </a:r>
          </a:p>
          <a:p>
            <a:pPr algn="l" marL="431801" indent="-215900" lvl="1">
              <a:lnSpc>
                <a:spcPts val="2660"/>
              </a:lnSpc>
              <a:buFont typeface="Arial"/>
              <a:buChar char="•"/>
            </a:pPr>
            <a:r>
              <a:rPr lang="en-US" sz="2000">
                <a:solidFill>
                  <a:srgbClr val="05061C"/>
                </a:solidFill>
                <a:latin typeface="Canva Sans"/>
                <a:ea typeface="Canva Sans"/>
                <a:cs typeface="Canva Sans"/>
                <a:sym typeface="Canva Sans"/>
              </a:rPr>
              <a:t>Cambiar el umbral de similitud.</a:t>
            </a:r>
          </a:p>
          <a:p>
            <a:pPr algn="l" marL="431801" indent="-215900" lvl="1">
              <a:lnSpc>
                <a:spcPts val="2660"/>
              </a:lnSpc>
              <a:buFont typeface="Arial"/>
              <a:buChar char="•"/>
            </a:pPr>
            <a:r>
              <a:rPr lang="en-US" sz="2000">
                <a:solidFill>
                  <a:srgbClr val="05061C"/>
                </a:solidFill>
                <a:latin typeface="Canva Sans"/>
                <a:ea typeface="Canva Sans"/>
                <a:cs typeface="Canva Sans"/>
                <a:sym typeface="Canva Sans"/>
              </a:rPr>
              <a:t>Eliminar documentos.</a:t>
            </a:r>
          </a:p>
          <a:p>
            <a:pPr algn="l">
              <a:lnSpc>
                <a:spcPts val="2660"/>
              </a:lnSpc>
            </a:pPr>
          </a:p>
          <a:p>
            <a:pPr algn="l" marL="0" indent="0" lvl="0">
              <a:lnSpc>
                <a:spcPts val="3067"/>
              </a:lnSpc>
            </a:pPr>
          </a:p>
        </p:txBody>
      </p:sp>
      <p:sp>
        <p:nvSpPr>
          <p:cNvPr name="TextBox 15" id="15"/>
          <p:cNvSpPr txBox="true"/>
          <p:nvPr/>
        </p:nvSpPr>
        <p:spPr>
          <a:xfrm rot="0">
            <a:off x="9212820" y="3330768"/>
            <a:ext cx="8415764" cy="4578350"/>
          </a:xfrm>
          <a:prstGeom prst="rect">
            <a:avLst/>
          </a:prstGeom>
        </p:spPr>
        <p:txBody>
          <a:bodyPr anchor="t" rtlCol="false" tIns="0" lIns="0" bIns="0" rIns="0">
            <a:spAutoFit/>
          </a:bodyPr>
          <a:lstStyle/>
          <a:p>
            <a:pPr algn="l">
              <a:lnSpc>
                <a:spcPts val="2800"/>
              </a:lnSpc>
              <a:spcBef>
                <a:spcPct val="0"/>
              </a:spcBef>
            </a:pPr>
            <a:r>
              <a:rPr lang="en-US" sz="2000">
                <a:solidFill>
                  <a:srgbClr val="05061C"/>
                </a:solidFill>
                <a:latin typeface="Canva Sans"/>
                <a:ea typeface="Canva Sans"/>
                <a:cs typeface="Canva Sans"/>
                <a:sym typeface="Canva Sans"/>
              </a:rPr>
              <a:t>En lugar de colocar toda la lógica directamente dentro del HTML, se utilizan eventos de JavaScript como addEventListener.</a:t>
            </a:r>
          </a:p>
          <a:p>
            <a:pPr algn="l">
              <a:lnSpc>
                <a:spcPts val="2800"/>
              </a:lnSpc>
              <a:spcBef>
                <a:spcPct val="0"/>
              </a:spcBef>
            </a:pPr>
            <a:r>
              <a:rPr lang="en-US" sz="2000">
                <a:solidFill>
                  <a:srgbClr val="05061C"/>
                </a:solidFill>
                <a:latin typeface="Canva Sans"/>
                <a:ea typeface="Canva Sans"/>
                <a:cs typeface="Canva Sans"/>
                <a:sym typeface="Canva Sans"/>
              </a:rPr>
              <a:t>¿Por qué?</a:t>
            </a:r>
          </a:p>
          <a:p>
            <a:pPr algn="l">
              <a:lnSpc>
                <a:spcPts val="2800"/>
              </a:lnSpc>
              <a:spcBef>
                <a:spcPct val="0"/>
              </a:spcBef>
            </a:pPr>
            <a:r>
              <a:rPr lang="en-US" sz="2000">
                <a:solidFill>
                  <a:srgbClr val="05061C"/>
                </a:solidFill>
                <a:latin typeface="Canva Sans"/>
                <a:ea typeface="Canva Sans"/>
                <a:cs typeface="Canva Sans"/>
                <a:sym typeface="Canva Sans"/>
              </a:rPr>
              <a:t>Porque permite mantener una separación entre:</a:t>
            </a:r>
          </a:p>
          <a:p>
            <a:pPr algn="l">
              <a:lnSpc>
                <a:spcPts val="2800"/>
              </a:lnSpc>
              <a:spcBef>
                <a:spcPct val="0"/>
              </a:spcBef>
            </a:pPr>
            <a:r>
              <a:rPr lang="en-US" sz="2000">
                <a:solidFill>
                  <a:srgbClr val="05061C"/>
                </a:solidFill>
                <a:latin typeface="Canva Sans"/>
                <a:ea typeface="Canva Sans"/>
                <a:cs typeface="Canva Sans"/>
                <a:sym typeface="Canva Sans"/>
              </a:rPr>
              <a:t>index.html</a:t>
            </a:r>
          </a:p>
          <a:p>
            <a:pPr algn="l">
              <a:lnSpc>
                <a:spcPts val="2800"/>
              </a:lnSpc>
              <a:spcBef>
                <a:spcPct val="0"/>
              </a:spcBef>
            </a:pPr>
            <a:r>
              <a:rPr lang="en-US" sz="2000">
                <a:solidFill>
                  <a:srgbClr val="05061C"/>
                </a:solidFill>
                <a:latin typeface="Canva Sans"/>
                <a:ea typeface="Canva Sans"/>
                <a:cs typeface="Canva Sans"/>
                <a:sym typeface="Canva Sans"/>
              </a:rPr>
              <a:t> ↓</a:t>
            </a:r>
          </a:p>
          <a:p>
            <a:pPr algn="l">
              <a:lnSpc>
                <a:spcPts val="2800"/>
              </a:lnSpc>
              <a:spcBef>
                <a:spcPct val="0"/>
              </a:spcBef>
            </a:pPr>
            <a:r>
              <a:rPr lang="en-US" sz="2000">
                <a:solidFill>
                  <a:srgbClr val="05061C"/>
                </a:solidFill>
                <a:latin typeface="Canva Sans"/>
                <a:ea typeface="Canva Sans"/>
                <a:cs typeface="Canva Sans"/>
                <a:sym typeface="Canva Sans"/>
              </a:rPr>
              <a:t>Interfaz</a:t>
            </a:r>
          </a:p>
          <a:p>
            <a:pPr algn="l">
              <a:lnSpc>
                <a:spcPts val="2800"/>
              </a:lnSpc>
              <a:spcBef>
                <a:spcPct val="0"/>
              </a:spcBef>
            </a:pPr>
            <a:r>
              <a:rPr lang="en-US" sz="2000">
                <a:solidFill>
                  <a:srgbClr val="05061C"/>
                </a:solidFill>
                <a:latin typeface="Canva Sans"/>
                <a:ea typeface="Canva Sans"/>
                <a:cs typeface="Canva Sans"/>
                <a:sym typeface="Canva Sans"/>
              </a:rPr>
              <a:t> ↓</a:t>
            </a:r>
          </a:p>
          <a:p>
            <a:pPr algn="l">
              <a:lnSpc>
                <a:spcPts val="2800"/>
              </a:lnSpc>
              <a:spcBef>
                <a:spcPct val="0"/>
              </a:spcBef>
            </a:pPr>
            <a:r>
              <a:rPr lang="en-US" sz="2000">
                <a:solidFill>
                  <a:srgbClr val="05061C"/>
                </a:solidFill>
                <a:latin typeface="Canva Sans"/>
                <a:ea typeface="Canva Sans"/>
                <a:cs typeface="Canva Sans"/>
                <a:sym typeface="Canva Sans"/>
              </a:rPr>
              <a:t>eventos.mjs</a:t>
            </a:r>
          </a:p>
          <a:p>
            <a:pPr algn="l">
              <a:lnSpc>
                <a:spcPts val="2800"/>
              </a:lnSpc>
              <a:spcBef>
                <a:spcPct val="0"/>
              </a:spcBef>
            </a:pPr>
            <a:r>
              <a:rPr lang="en-US" sz="2000">
                <a:solidFill>
                  <a:srgbClr val="05061C"/>
                </a:solidFill>
                <a:latin typeface="Canva Sans"/>
                <a:ea typeface="Canva Sans"/>
                <a:cs typeface="Canva Sans"/>
                <a:sym typeface="Canva Sans"/>
              </a:rPr>
              <a:t> ↓</a:t>
            </a:r>
          </a:p>
          <a:p>
            <a:pPr algn="l">
              <a:lnSpc>
                <a:spcPts val="2800"/>
              </a:lnSpc>
              <a:spcBef>
                <a:spcPct val="0"/>
              </a:spcBef>
            </a:pPr>
            <a:r>
              <a:rPr lang="en-US" sz="2000">
                <a:solidFill>
                  <a:srgbClr val="05061C"/>
                </a:solidFill>
                <a:latin typeface="Canva Sans"/>
                <a:ea typeface="Canva Sans"/>
                <a:cs typeface="Canva Sans"/>
                <a:sym typeface="Canva Sans"/>
              </a:rPr>
              <a:t>Lógica del sistema</a:t>
            </a:r>
          </a:p>
          <a:p>
            <a:pPr algn="l">
              <a:lnSpc>
                <a:spcPts val="2800"/>
              </a:lnSpc>
              <a:spcBef>
                <a:spcPct val="0"/>
              </a:spcBef>
            </a:pPr>
            <a:r>
              <a:rPr lang="en-US" sz="2000">
                <a:solidFill>
                  <a:srgbClr val="05061C"/>
                </a:solidFill>
                <a:latin typeface="Canva Sans"/>
                <a:ea typeface="Canva Sans"/>
                <a:cs typeface="Canva Sans"/>
                <a:sym typeface="Canva Sans"/>
              </a:rPr>
              <a:t>Esto hace que el código sea más organizado, reutilizable y fácil de mantener.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09851" y="1950975"/>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DESICION 2</a:t>
            </a:r>
          </a:p>
        </p:txBody>
      </p:sp>
      <p:sp>
        <p:nvSpPr>
          <p:cNvPr name="Freeform 3" id="3"/>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242976" y="2816732"/>
            <a:ext cx="6801759" cy="8041648"/>
          </a:xfrm>
          <a:prstGeom prst="rect">
            <a:avLst/>
          </a:prstGeom>
        </p:spPr>
        <p:txBody>
          <a:bodyPr anchor="t" rtlCol="false" tIns="0" lIns="0" bIns="0" rIns="0">
            <a:spAutoFit/>
          </a:bodyPr>
          <a:lstStyle/>
          <a:p>
            <a:pPr algn="l">
              <a:lnSpc>
                <a:spcPts val="2660"/>
              </a:lnSpc>
            </a:pPr>
            <a:r>
              <a:rPr lang="en-US" sz="2000" b="true">
                <a:solidFill>
                  <a:srgbClr val="05061C"/>
                </a:solidFill>
                <a:latin typeface="Canva Sans Bold"/>
                <a:ea typeface="Canva Sans Bold"/>
                <a:cs typeface="Canva Sans Bold"/>
                <a:sym typeface="Canva Sans Bold"/>
              </a:rPr>
              <a:t>async/await y carga del modelo</a:t>
            </a:r>
          </a:p>
          <a:p>
            <a:pPr algn="l">
              <a:lnSpc>
                <a:spcPts val="2660"/>
              </a:lnSpc>
            </a:pPr>
            <a:r>
              <a:rPr lang="en-US" sz="2000">
                <a:solidFill>
                  <a:srgbClr val="05061C"/>
                </a:solidFill>
                <a:latin typeface="Canva Sans"/>
                <a:ea typeface="Canva Sans"/>
                <a:cs typeface="Canva Sans"/>
                <a:sym typeface="Canva Sans"/>
              </a:rPr>
              <a:t>Otr</a:t>
            </a:r>
            <a:r>
              <a:rPr lang="en-US" sz="2000">
                <a:solidFill>
                  <a:srgbClr val="05061C"/>
                </a:solidFill>
                <a:latin typeface="Canva Sans"/>
                <a:ea typeface="Canva Sans"/>
                <a:cs typeface="Canva Sans"/>
                <a:sym typeface="Canva Sans"/>
              </a:rPr>
              <a:t>a decisión importante fue utilizar operaciones asíncronas para cargar el modelo de embeddings y procesar los documentos.</a:t>
            </a:r>
          </a:p>
          <a:p>
            <a:pPr algn="l">
              <a:lnSpc>
                <a:spcPts val="2660"/>
              </a:lnSpc>
            </a:pPr>
            <a:r>
              <a:rPr lang="en-US" sz="2000">
                <a:solidFill>
                  <a:srgbClr val="05061C"/>
                </a:solidFill>
                <a:latin typeface="Canva Sans"/>
                <a:ea typeface="Canva Sans"/>
                <a:cs typeface="Canva Sans"/>
                <a:sym typeface="Canva Sans"/>
              </a:rPr>
              <a:t>Esto es especialmente importante porque el modelo de inteligencia artificial es relativamente pesado y su carga no es instantánea.</a:t>
            </a:r>
          </a:p>
          <a:p>
            <a:pPr algn="l">
              <a:lnSpc>
                <a:spcPts val="2660"/>
              </a:lnSpc>
            </a:pPr>
            <a:r>
              <a:rPr lang="en-US" sz="2000">
                <a:solidFill>
                  <a:srgbClr val="05061C"/>
                </a:solidFill>
                <a:latin typeface="Canva Sans"/>
                <a:ea typeface="Canva Sans"/>
                <a:cs typeface="Canva Sans"/>
                <a:sym typeface="Canva Sans"/>
              </a:rPr>
              <a:t>El proyecto utiliza funciones como:</a:t>
            </a:r>
          </a:p>
          <a:p>
            <a:pPr algn="l">
              <a:lnSpc>
                <a:spcPts val="2660"/>
              </a:lnSpc>
            </a:pPr>
          </a:p>
          <a:p>
            <a:pPr algn="l">
              <a:lnSpc>
                <a:spcPts val="2660"/>
              </a:lnSpc>
            </a:pPr>
            <a:r>
              <a:rPr lang="en-US" sz="2000">
                <a:solidFill>
                  <a:srgbClr val="05061C"/>
                </a:solidFill>
                <a:latin typeface="Canva Sans"/>
                <a:ea typeface="Canva Sans"/>
                <a:cs typeface="Canva Sans"/>
                <a:sym typeface="Canva Sans"/>
              </a:rPr>
              <a:t>async</a:t>
            </a:r>
          </a:p>
          <a:p>
            <a:pPr algn="l">
              <a:lnSpc>
                <a:spcPts val="2660"/>
              </a:lnSpc>
            </a:pPr>
            <a:r>
              <a:rPr lang="en-US" sz="2000">
                <a:solidFill>
                  <a:srgbClr val="05061C"/>
                </a:solidFill>
                <a:latin typeface="Canva Sans"/>
                <a:ea typeface="Canva Sans"/>
                <a:cs typeface="Canva Sans"/>
                <a:sym typeface="Canva Sans"/>
              </a:rPr>
              <a:t>await</a:t>
            </a:r>
          </a:p>
          <a:p>
            <a:pPr algn="l">
              <a:lnSpc>
                <a:spcPts val="2660"/>
              </a:lnSpc>
            </a:pPr>
          </a:p>
          <a:p>
            <a:pPr algn="l">
              <a:lnSpc>
                <a:spcPts val="2660"/>
              </a:lnSpc>
            </a:pPr>
            <a:r>
              <a:rPr lang="en-US" sz="2000">
                <a:solidFill>
                  <a:srgbClr val="05061C"/>
                </a:solidFill>
                <a:latin typeface="Canva Sans"/>
                <a:ea typeface="Canva Sans"/>
                <a:cs typeface="Canva Sans"/>
                <a:sym typeface="Canva Sans"/>
              </a:rPr>
              <a:t>para </a:t>
            </a:r>
            <a:r>
              <a:rPr lang="en-US" sz="2000">
                <a:solidFill>
                  <a:srgbClr val="05061C"/>
                </a:solidFill>
                <a:latin typeface="Canva Sans"/>
                <a:ea typeface="Canva Sans"/>
                <a:cs typeface="Canva Sans"/>
                <a:sym typeface="Canva Sans"/>
              </a:rPr>
              <a:t>esperar procesos como:</a:t>
            </a:r>
          </a:p>
          <a:p>
            <a:pPr algn="l">
              <a:lnSpc>
                <a:spcPts val="2660"/>
              </a:lnSpc>
            </a:pPr>
          </a:p>
          <a:p>
            <a:pPr algn="l">
              <a:lnSpc>
                <a:spcPts val="2660"/>
              </a:lnSpc>
            </a:pPr>
            <a:r>
              <a:rPr lang="en-US" sz="2000">
                <a:solidFill>
                  <a:srgbClr val="05061C"/>
                </a:solidFill>
                <a:latin typeface="Canva Sans"/>
                <a:ea typeface="Canva Sans"/>
                <a:cs typeface="Canva Sans"/>
                <a:sym typeface="Canva Sans"/>
              </a:rPr>
              <a:t>Carga del modelo</a:t>
            </a:r>
          </a:p>
          <a:p>
            <a:pPr algn="l">
              <a:lnSpc>
                <a:spcPts val="2660"/>
              </a:lnSpc>
            </a:pPr>
            <a:r>
              <a:rPr lang="en-US" sz="2000">
                <a:solidFill>
                  <a:srgbClr val="05061C"/>
                </a:solidFill>
                <a:latin typeface="Canva Sans"/>
                <a:ea typeface="Canva Sans"/>
                <a:cs typeface="Canva Sans"/>
                <a:sym typeface="Canva Sans"/>
              </a:rPr>
              <a:t>       ↓</a:t>
            </a:r>
          </a:p>
          <a:p>
            <a:pPr algn="l">
              <a:lnSpc>
                <a:spcPts val="2660"/>
              </a:lnSpc>
            </a:pPr>
            <a:r>
              <a:rPr lang="en-US" sz="2000">
                <a:solidFill>
                  <a:srgbClr val="05061C"/>
                </a:solidFill>
                <a:latin typeface="Canva Sans"/>
                <a:ea typeface="Canva Sans"/>
                <a:cs typeface="Canva Sans"/>
                <a:sym typeface="Canva Sans"/>
              </a:rPr>
              <a:t>Procesamiento del documento</a:t>
            </a:r>
          </a:p>
          <a:p>
            <a:pPr algn="l">
              <a:lnSpc>
                <a:spcPts val="2660"/>
              </a:lnSpc>
            </a:pPr>
            <a:r>
              <a:rPr lang="en-US" sz="2000">
                <a:solidFill>
                  <a:srgbClr val="05061C"/>
                </a:solidFill>
                <a:latin typeface="Canva Sans"/>
                <a:ea typeface="Canva Sans"/>
                <a:cs typeface="Canva Sans"/>
                <a:sym typeface="Canva Sans"/>
              </a:rPr>
              <a:t>       ↓</a:t>
            </a:r>
          </a:p>
          <a:p>
            <a:pPr algn="l">
              <a:lnSpc>
                <a:spcPts val="2660"/>
              </a:lnSpc>
            </a:pPr>
            <a:r>
              <a:rPr lang="en-US" sz="2000">
                <a:solidFill>
                  <a:srgbClr val="05061C"/>
                </a:solidFill>
                <a:latin typeface="Canva Sans"/>
                <a:ea typeface="Canva Sans"/>
                <a:cs typeface="Canva Sans"/>
                <a:sym typeface="Canva Sans"/>
              </a:rPr>
              <a:t>Generación de embeddings</a:t>
            </a:r>
          </a:p>
          <a:p>
            <a:pPr algn="l">
              <a:lnSpc>
                <a:spcPts val="2660"/>
              </a:lnSpc>
            </a:pPr>
            <a:r>
              <a:rPr lang="en-US" sz="2000">
                <a:solidFill>
                  <a:srgbClr val="05061C"/>
                </a:solidFill>
                <a:latin typeface="Canva Sans"/>
                <a:ea typeface="Canva Sans"/>
                <a:cs typeface="Canva Sans"/>
                <a:sym typeface="Canva Sans"/>
              </a:rPr>
              <a:t>       ↓</a:t>
            </a:r>
          </a:p>
          <a:p>
            <a:pPr algn="l">
              <a:lnSpc>
                <a:spcPts val="2660"/>
              </a:lnSpc>
            </a:pPr>
            <a:r>
              <a:rPr lang="en-US" sz="2000">
                <a:solidFill>
                  <a:srgbClr val="05061C"/>
                </a:solidFill>
                <a:latin typeface="Canva Sans"/>
                <a:ea typeface="Canva Sans"/>
                <a:cs typeface="Canva Sans"/>
                <a:sym typeface="Canva Sans"/>
              </a:rPr>
              <a:t>Búsqueda</a:t>
            </a:r>
          </a:p>
          <a:p>
            <a:pPr algn="l">
              <a:lnSpc>
                <a:spcPts val="2660"/>
              </a:lnSpc>
            </a:pPr>
          </a:p>
          <a:p>
            <a:pPr algn="l">
              <a:lnSpc>
                <a:spcPts val="2660"/>
              </a:lnSpc>
            </a:pPr>
          </a:p>
          <a:p>
            <a:pPr algn="l" marL="0" indent="0" lvl="0">
              <a:lnSpc>
                <a:spcPts val="3067"/>
              </a:lnSpc>
            </a:pPr>
          </a:p>
        </p:txBody>
      </p:sp>
      <p:sp>
        <p:nvSpPr>
          <p:cNvPr name="TextBox 14" id="14"/>
          <p:cNvSpPr txBox="true"/>
          <p:nvPr/>
        </p:nvSpPr>
        <p:spPr>
          <a:xfrm rot="0">
            <a:off x="9212820" y="3330768"/>
            <a:ext cx="8415764" cy="3521075"/>
          </a:xfrm>
          <a:prstGeom prst="rect">
            <a:avLst/>
          </a:prstGeom>
        </p:spPr>
        <p:txBody>
          <a:bodyPr anchor="t" rtlCol="false" tIns="0" lIns="0" bIns="0" rIns="0">
            <a:spAutoFit/>
          </a:bodyPr>
          <a:lstStyle/>
          <a:p>
            <a:pPr algn="l">
              <a:lnSpc>
                <a:spcPts val="2800"/>
              </a:lnSpc>
              <a:spcBef>
                <a:spcPct val="0"/>
              </a:spcBef>
            </a:pPr>
            <a:r>
              <a:rPr lang="en-US" sz="2000">
                <a:solidFill>
                  <a:srgbClr val="05061C"/>
                </a:solidFill>
                <a:latin typeface="Canva Sans"/>
                <a:ea typeface="Canva Sans"/>
                <a:cs typeface="Canva Sans"/>
                <a:sym typeface="Canva Sans"/>
              </a:rPr>
              <a:t>T</a:t>
            </a:r>
            <a:r>
              <a:rPr lang="en-US" sz="2000">
                <a:solidFill>
                  <a:srgbClr val="05061C"/>
                </a:solidFill>
                <a:latin typeface="Canva Sans"/>
                <a:ea typeface="Canva Sans"/>
                <a:cs typeface="Canva Sans"/>
                <a:sym typeface="Canva Sans"/>
              </a:rPr>
              <a:t>ambién se realiza la carga de recursos externos mediante importación dinámica, por ejemplo para Transformers.js y el procesamiento de PDF.</a:t>
            </a:r>
          </a:p>
          <a:p>
            <a:pPr algn="l">
              <a:lnSpc>
                <a:spcPts val="2800"/>
              </a:lnSpc>
              <a:spcBef>
                <a:spcPct val="0"/>
              </a:spcBef>
            </a:pPr>
            <a:r>
              <a:rPr lang="en-US" sz="2000">
                <a:solidFill>
                  <a:srgbClr val="05061C"/>
                </a:solidFill>
                <a:latin typeface="Canva Sans"/>
                <a:ea typeface="Canva Sans"/>
                <a:cs typeface="Canva Sans"/>
                <a:sym typeface="Canva Sans"/>
              </a:rPr>
              <a:t>¿Por qué?</a:t>
            </a:r>
          </a:p>
          <a:p>
            <a:pPr algn="l">
              <a:lnSpc>
                <a:spcPts val="2800"/>
              </a:lnSpc>
              <a:spcBef>
                <a:spcPct val="0"/>
              </a:spcBef>
            </a:pPr>
            <a:r>
              <a:rPr lang="en-US" sz="2000">
                <a:solidFill>
                  <a:srgbClr val="05061C"/>
                </a:solidFill>
                <a:latin typeface="Canva Sans"/>
                <a:ea typeface="Canva Sans"/>
                <a:cs typeface="Canva Sans"/>
                <a:sym typeface="Canva Sans"/>
              </a:rPr>
              <a:t>Porque si el navegador tuviera que ejecutar todo de manera bloqueante, la interfaz podría quedarse congelada mientras se carga el modelo.</a:t>
            </a:r>
          </a:p>
          <a:p>
            <a:pPr algn="l">
              <a:lnSpc>
                <a:spcPts val="2800"/>
              </a:lnSpc>
              <a:spcBef>
                <a:spcPct val="0"/>
              </a:spcBef>
            </a:pPr>
            <a:r>
              <a:rPr lang="en-US" sz="2000">
                <a:solidFill>
                  <a:srgbClr val="05061C"/>
                </a:solidFill>
                <a:latin typeface="Canva Sans"/>
                <a:ea typeface="Canva Sans"/>
                <a:cs typeface="Canva Sans"/>
                <a:sym typeface="Canva Sans"/>
              </a:rPr>
              <a:t>Con async/await, el programa puede esperar correctamente el resultado de una operación pesada y actualizar posteriormente el estado de la interfaz</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09851" y="1950975"/>
            <a:ext cx="15664387" cy="1246267"/>
          </a:xfrm>
          <a:prstGeom prst="rect">
            <a:avLst/>
          </a:prstGeom>
        </p:spPr>
        <p:txBody>
          <a:bodyPr anchor="t" rtlCol="false" tIns="0" lIns="0" bIns="0" rIns="0">
            <a:spAutoFit/>
          </a:bodyPr>
          <a:lstStyle/>
          <a:p>
            <a:pPr algn="ctr" marL="0" indent="0" lvl="0">
              <a:lnSpc>
                <a:spcPts val="9141"/>
              </a:lnSpc>
            </a:pPr>
            <a:r>
              <a:rPr lang="en-US" b="true" sz="10045">
                <a:solidFill>
                  <a:srgbClr val="05061C"/>
                </a:solidFill>
                <a:latin typeface="Dumondi Condensed Heavy"/>
                <a:ea typeface="Dumondi Condensed Heavy"/>
                <a:cs typeface="Dumondi Condensed Heavy"/>
                <a:sym typeface="Dumondi Condensed Heavy"/>
              </a:rPr>
              <a:t>DESICION 3</a:t>
            </a:r>
          </a:p>
        </p:txBody>
      </p:sp>
      <p:sp>
        <p:nvSpPr>
          <p:cNvPr name="Freeform 3" id="3"/>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767621">
            <a:off x="10150362" y="8548225"/>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3484404">
            <a:off x="6584638" y="8192544"/>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242976" y="2826257"/>
            <a:ext cx="6801759" cy="5031748"/>
          </a:xfrm>
          <a:prstGeom prst="rect">
            <a:avLst/>
          </a:prstGeom>
        </p:spPr>
        <p:txBody>
          <a:bodyPr anchor="t" rtlCol="false" tIns="0" lIns="0" bIns="0" rIns="0">
            <a:spAutoFit/>
          </a:bodyPr>
          <a:lstStyle/>
          <a:p>
            <a:pPr algn="l">
              <a:lnSpc>
                <a:spcPts val="2660"/>
              </a:lnSpc>
            </a:pPr>
            <a:r>
              <a:rPr lang="en-US" sz="2000" b="true">
                <a:solidFill>
                  <a:srgbClr val="05061C"/>
                </a:solidFill>
                <a:latin typeface="Dumondi Condensed Bold"/>
                <a:ea typeface="Dumondi Condensed Bold"/>
                <a:cs typeface="Dumondi Condensed Bold"/>
                <a:sym typeface="Dumondi Condensed Bold"/>
              </a:rPr>
              <a:t>3. Seguridad contra XSS — textContent y creación de elementos DOM</a:t>
            </a:r>
          </a:p>
          <a:p>
            <a:pPr algn="l">
              <a:lnSpc>
                <a:spcPts val="2660"/>
              </a:lnSpc>
            </a:pPr>
            <a:r>
              <a:rPr lang="en-US" sz="2000">
                <a:solidFill>
                  <a:srgbClr val="05061C"/>
                </a:solidFill>
                <a:latin typeface="Dumondi Condensed"/>
                <a:ea typeface="Dumondi Condensed"/>
                <a:cs typeface="Dumondi Condensed"/>
                <a:sym typeface="Dumondi Condensed"/>
              </a:rPr>
              <a:t>Una </a:t>
            </a:r>
            <a:r>
              <a:rPr lang="en-US" sz="2000">
                <a:solidFill>
                  <a:srgbClr val="05061C"/>
                </a:solidFill>
                <a:latin typeface="Dumondi Condensed"/>
                <a:ea typeface="Dumondi Condensed"/>
                <a:cs typeface="Dumondi Condensed"/>
                <a:sym typeface="Dumondi Condensed"/>
              </a:rPr>
              <a:t>tercer</a:t>
            </a:r>
            <a:r>
              <a:rPr lang="en-US" sz="2000">
                <a:solidFill>
                  <a:srgbClr val="05061C"/>
                </a:solidFill>
                <a:latin typeface="Dumondi Condensed"/>
                <a:ea typeface="Dumondi Condensed"/>
                <a:cs typeface="Dumondi Condensed"/>
                <a:sym typeface="Dumondi Condensed"/>
              </a:rPr>
              <a:t>a decisión importante está relacionada con la seguridad.</a:t>
            </a:r>
          </a:p>
          <a:p>
            <a:pPr algn="l">
              <a:lnSpc>
                <a:spcPts val="2660"/>
              </a:lnSpc>
            </a:pPr>
            <a:r>
              <a:rPr lang="en-US" sz="2000">
                <a:solidFill>
                  <a:srgbClr val="05061C"/>
                </a:solidFill>
                <a:latin typeface="Dumondi Condensed"/>
                <a:ea typeface="Dumondi Condensed"/>
                <a:cs typeface="Dumondi Condensed"/>
                <a:sym typeface="Dumondi Condensed"/>
              </a:rPr>
              <a:t>Los documentos que carga el usuario pueden contener texto que no debería interpretarse como código HTML o JavaScript.</a:t>
            </a:r>
          </a:p>
          <a:p>
            <a:pPr algn="l">
              <a:lnSpc>
                <a:spcPts val="2660"/>
              </a:lnSpc>
            </a:pPr>
            <a:r>
              <a:rPr lang="en-US" sz="2000">
                <a:solidFill>
                  <a:srgbClr val="05061C"/>
                </a:solidFill>
                <a:latin typeface="Dumondi Condensed"/>
                <a:ea typeface="Dumondi Condensed"/>
                <a:cs typeface="Dumondi Condensed"/>
                <a:sym typeface="Dumondi Condensed"/>
              </a:rPr>
              <a:t>Por eso, al mostrar información de los documentos y resultados, el proyecto utiliza principalmente:</a:t>
            </a:r>
          </a:p>
          <a:p>
            <a:pPr algn="l">
              <a:lnSpc>
                <a:spcPts val="2660"/>
              </a:lnSpc>
            </a:pPr>
          </a:p>
          <a:p>
            <a:pPr algn="l">
              <a:lnSpc>
                <a:spcPts val="2660"/>
              </a:lnSpc>
            </a:pPr>
            <a:r>
              <a:rPr lang="en-US" sz="2000">
                <a:solidFill>
                  <a:srgbClr val="05061C"/>
                </a:solidFill>
                <a:latin typeface="Dumondi Condensed"/>
                <a:ea typeface="Dumondi Condensed"/>
                <a:cs typeface="Dumondi Condensed"/>
                <a:sym typeface="Dumondi Condensed"/>
              </a:rPr>
              <a:t>textContent</a:t>
            </a:r>
          </a:p>
          <a:p>
            <a:pPr algn="l">
              <a:lnSpc>
                <a:spcPts val="2660"/>
              </a:lnSpc>
            </a:pPr>
          </a:p>
          <a:p>
            <a:pPr algn="l">
              <a:lnSpc>
                <a:spcPts val="2660"/>
              </a:lnSpc>
            </a:pPr>
            <a:r>
              <a:rPr lang="en-US" sz="2000">
                <a:solidFill>
                  <a:srgbClr val="05061C"/>
                </a:solidFill>
                <a:latin typeface="Dumondi Condensed"/>
                <a:ea typeface="Dumondi Condensed"/>
                <a:cs typeface="Dumondi Condensed"/>
                <a:sym typeface="Dumondi Condensed"/>
              </a:rPr>
              <a:t>y métodos como:</a:t>
            </a:r>
          </a:p>
          <a:p>
            <a:pPr algn="l">
              <a:lnSpc>
                <a:spcPts val="2660"/>
              </a:lnSpc>
            </a:pPr>
          </a:p>
          <a:p>
            <a:pPr algn="l">
              <a:lnSpc>
                <a:spcPts val="2660"/>
              </a:lnSpc>
            </a:pPr>
            <a:r>
              <a:rPr lang="en-US" sz="2000">
                <a:solidFill>
                  <a:srgbClr val="05061C"/>
                </a:solidFill>
                <a:latin typeface="Dumondi Condensed"/>
                <a:ea typeface="Dumondi Condensed"/>
                <a:cs typeface="Dumondi Condensed"/>
                <a:sym typeface="Dumondi Condensed"/>
              </a:rPr>
              <a:t>createElement()</a:t>
            </a:r>
          </a:p>
          <a:p>
            <a:pPr algn="l">
              <a:lnSpc>
                <a:spcPts val="2660"/>
              </a:lnSpc>
            </a:pPr>
            <a:r>
              <a:rPr lang="en-US" sz="2000">
                <a:solidFill>
                  <a:srgbClr val="05061C"/>
                </a:solidFill>
                <a:latin typeface="Dumondi Condensed"/>
                <a:ea typeface="Dumondi Condensed"/>
                <a:cs typeface="Dumondi Condensed"/>
                <a:sym typeface="Dumondi Condensed"/>
              </a:rPr>
              <a:t>appendChild()</a:t>
            </a:r>
          </a:p>
          <a:p>
            <a:pPr algn="l">
              <a:lnSpc>
                <a:spcPts val="2660"/>
              </a:lnSpc>
            </a:pPr>
          </a:p>
          <a:p>
            <a:pPr algn="l" marL="0" indent="0" lvl="0">
              <a:lnSpc>
                <a:spcPts val="3067"/>
              </a:lnSpc>
            </a:pPr>
          </a:p>
        </p:txBody>
      </p:sp>
      <p:sp>
        <p:nvSpPr>
          <p:cNvPr name="TextBox 14" id="14"/>
          <p:cNvSpPr txBox="true"/>
          <p:nvPr/>
        </p:nvSpPr>
        <p:spPr>
          <a:xfrm rot="0">
            <a:off x="8843536" y="3003479"/>
            <a:ext cx="8415764" cy="5167630"/>
          </a:xfrm>
          <a:prstGeom prst="rect">
            <a:avLst/>
          </a:prstGeom>
        </p:spPr>
        <p:txBody>
          <a:bodyPr anchor="t" rtlCol="false" tIns="0" lIns="0" bIns="0" rIns="0">
            <a:spAutoFit/>
          </a:bodyPr>
          <a:lstStyle/>
          <a:p>
            <a:pPr algn="l">
              <a:lnSpc>
                <a:spcPts val="2940"/>
              </a:lnSpc>
              <a:spcBef>
                <a:spcPct val="0"/>
              </a:spcBef>
            </a:pPr>
            <a:r>
              <a:rPr lang="en-US" sz="2100">
                <a:solidFill>
                  <a:srgbClr val="05061C"/>
                </a:solidFill>
                <a:latin typeface="Dumondi Condensed"/>
                <a:ea typeface="Dumondi Condensed"/>
                <a:cs typeface="Dumondi Condensed"/>
                <a:sym typeface="Dumondi Condensed"/>
              </a:rPr>
              <a:t>E</a:t>
            </a:r>
            <a:r>
              <a:rPr lang="en-US" sz="2100">
                <a:solidFill>
                  <a:srgbClr val="05061C"/>
                </a:solidFill>
                <a:latin typeface="Dumondi Condensed"/>
                <a:ea typeface="Dumondi Condensed"/>
                <a:cs typeface="Dumondi Condensed"/>
                <a:sym typeface="Dumondi Condensed"/>
              </a:rPr>
              <a:t>n lugar de insertar directamente contenido del documento mediante innerHTML.</a:t>
            </a:r>
          </a:p>
          <a:p>
            <a:pPr algn="l">
              <a:lnSpc>
                <a:spcPts val="2940"/>
              </a:lnSpc>
              <a:spcBef>
                <a:spcPct val="0"/>
              </a:spcBef>
            </a:pPr>
            <a:r>
              <a:rPr lang="en-US" sz="2100">
                <a:solidFill>
                  <a:srgbClr val="05061C"/>
                </a:solidFill>
                <a:latin typeface="Dumondi Condensed"/>
                <a:ea typeface="Dumondi Condensed"/>
                <a:cs typeface="Dumondi Condensed"/>
                <a:sym typeface="Dumondi Condensed"/>
              </a:rPr>
              <a:t>¿Por qué?</a:t>
            </a:r>
          </a:p>
          <a:p>
            <a:pPr algn="l">
              <a:lnSpc>
                <a:spcPts val="2940"/>
              </a:lnSpc>
              <a:spcBef>
                <a:spcPct val="0"/>
              </a:spcBef>
            </a:pPr>
            <a:r>
              <a:rPr lang="en-US" sz="2100">
                <a:solidFill>
                  <a:srgbClr val="05061C"/>
                </a:solidFill>
                <a:latin typeface="Dumondi Condensed"/>
                <a:ea typeface="Dumondi Condensed"/>
                <a:cs typeface="Dumondi Condensed"/>
                <a:sym typeface="Dumondi Condensed"/>
              </a:rPr>
              <a:t>Supongam</a:t>
            </a:r>
            <a:r>
              <a:rPr lang="en-US" sz="2100">
                <a:solidFill>
                  <a:srgbClr val="05061C"/>
                </a:solidFill>
                <a:latin typeface="Dumondi Condensed"/>
                <a:ea typeface="Dumondi Condensed"/>
                <a:cs typeface="Dumondi Condensed"/>
                <a:sym typeface="Dumondi Condensed"/>
              </a:rPr>
              <a:t>os que un documento contiene:</a:t>
            </a:r>
          </a:p>
          <a:p>
            <a:pPr algn="l">
              <a:lnSpc>
                <a:spcPts val="2940"/>
              </a:lnSpc>
              <a:spcBef>
                <a:spcPct val="0"/>
              </a:spcBef>
            </a:pPr>
          </a:p>
          <a:p>
            <a:pPr algn="l">
              <a:lnSpc>
                <a:spcPts val="2940"/>
              </a:lnSpc>
              <a:spcBef>
                <a:spcPct val="0"/>
              </a:spcBef>
            </a:pPr>
            <a:r>
              <a:rPr lang="en-US" sz="2100">
                <a:solidFill>
                  <a:srgbClr val="05061C"/>
                </a:solidFill>
                <a:latin typeface="Dumondi Condensed"/>
                <a:ea typeface="Dumondi Condensed"/>
                <a:cs typeface="Dumondi Condensed"/>
                <a:sym typeface="Dumondi Condensed"/>
              </a:rPr>
              <a:t>&lt;script&gt;...&lt;/script&gt;</a:t>
            </a:r>
          </a:p>
          <a:p>
            <a:pPr algn="l">
              <a:lnSpc>
                <a:spcPts val="2940"/>
              </a:lnSpc>
              <a:spcBef>
                <a:spcPct val="0"/>
              </a:spcBef>
            </a:pPr>
          </a:p>
          <a:p>
            <a:pPr algn="l">
              <a:lnSpc>
                <a:spcPts val="2940"/>
              </a:lnSpc>
              <a:spcBef>
                <a:spcPct val="0"/>
              </a:spcBef>
            </a:pPr>
            <a:r>
              <a:rPr lang="en-US" sz="2100">
                <a:solidFill>
                  <a:srgbClr val="05061C"/>
                </a:solidFill>
                <a:latin typeface="Dumondi Condensed"/>
                <a:ea typeface="Dumondi Condensed"/>
                <a:cs typeface="Dumondi Condensed"/>
                <a:sym typeface="Dumondi Condensed"/>
              </a:rPr>
              <a:t>Si ese contenido se insertara directamente como HTML, podría existir un riesgo de Cross-Site Scripting (XSS).</a:t>
            </a:r>
          </a:p>
          <a:p>
            <a:pPr algn="l">
              <a:lnSpc>
                <a:spcPts val="2940"/>
              </a:lnSpc>
              <a:spcBef>
                <a:spcPct val="0"/>
              </a:spcBef>
            </a:pPr>
            <a:r>
              <a:rPr lang="en-US" sz="2100">
                <a:solidFill>
                  <a:srgbClr val="05061C"/>
                </a:solidFill>
                <a:latin typeface="Dumondi Condensed"/>
                <a:ea typeface="Dumondi Condensed"/>
                <a:cs typeface="Dumondi Condensed"/>
                <a:sym typeface="Dumondi Condensed"/>
              </a:rPr>
              <a:t>Con:</a:t>
            </a:r>
          </a:p>
          <a:p>
            <a:pPr algn="l">
              <a:lnSpc>
                <a:spcPts val="2940"/>
              </a:lnSpc>
              <a:spcBef>
                <a:spcPct val="0"/>
              </a:spcBef>
            </a:pPr>
          </a:p>
          <a:p>
            <a:pPr algn="l">
              <a:lnSpc>
                <a:spcPts val="2940"/>
              </a:lnSpc>
              <a:spcBef>
                <a:spcPct val="0"/>
              </a:spcBef>
            </a:pPr>
            <a:r>
              <a:rPr lang="en-US" sz="2100">
                <a:solidFill>
                  <a:srgbClr val="05061C"/>
                </a:solidFill>
                <a:latin typeface="Dumondi Condensed"/>
                <a:ea typeface="Dumondi Condensed"/>
                <a:cs typeface="Dumondi Condensed"/>
                <a:sym typeface="Dumondi Condensed"/>
              </a:rPr>
              <a:t>element.textContent = contenido;</a:t>
            </a:r>
          </a:p>
          <a:p>
            <a:pPr algn="l">
              <a:lnSpc>
                <a:spcPts val="2940"/>
              </a:lnSpc>
              <a:spcBef>
                <a:spcPct val="0"/>
              </a:spcBef>
            </a:pPr>
          </a:p>
          <a:p>
            <a:pPr algn="l">
              <a:lnSpc>
                <a:spcPts val="2940"/>
              </a:lnSpc>
              <a:spcBef>
                <a:spcPct val="0"/>
              </a:spcBef>
            </a:pPr>
            <a:r>
              <a:rPr lang="en-US" sz="2100">
                <a:solidFill>
                  <a:srgbClr val="05061C"/>
                </a:solidFill>
                <a:latin typeface="Dumondi Condensed"/>
                <a:ea typeface="Dumondi Condensed"/>
                <a:cs typeface="Dumondi Condensed"/>
                <a:sym typeface="Dumondi Condensed"/>
              </a:rPr>
              <a:t>el navegador interpreta el contenido como texto, no como código HTML ejecutable.</a:t>
            </a:r>
          </a:p>
          <a:p>
            <a:pPr algn="l">
              <a:lnSpc>
                <a:spcPts val="280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382197"/>
            <a:ext cx="15664387" cy="612775"/>
          </a:xfrm>
          <a:prstGeom prst="rect">
            <a:avLst/>
          </a:prstGeom>
        </p:spPr>
        <p:txBody>
          <a:bodyPr anchor="t" rtlCol="false" tIns="0" lIns="0" bIns="0" rIns="0">
            <a:spAutoFit/>
          </a:bodyPr>
          <a:lstStyle/>
          <a:p>
            <a:pPr algn="ctr" marL="0" indent="0" lvl="0">
              <a:lnSpc>
                <a:spcPts val="4550"/>
              </a:lnSpc>
            </a:pPr>
            <a:r>
              <a:rPr lang="en-US" b="true" sz="5000">
                <a:solidFill>
                  <a:srgbClr val="05061C"/>
                </a:solidFill>
                <a:latin typeface="Dumondi Condensed Heavy"/>
                <a:ea typeface="Dumondi Condensed Heavy"/>
                <a:cs typeface="Dumondi Condensed Heavy"/>
                <a:sym typeface="Dumondi Condensed Heavy"/>
              </a:rPr>
              <a:t>CONCLUSIONES</a:t>
            </a:r>
          </a:p>
        </p:txBody>
      </p:sp>
      <p:sp>
        <p:nvSpPr>
          <p:cNvPr name="Freeform 3" id="3"/>
          <p:cNvSpPr/>
          <p:nvPr/>
        </p:nvSpPr>
        <p:spPr>
          <a:xfrm flipH="false" flipV="false" rot="0">
            <a:off x="3072340" y="8949815"/>
            <a:ext cx="2617945" cy="1989639"/>
          </a:xfrm>
          <a:custGeom>
            <a:avLst/>
            <a:gdLst/>
            <a:ahLst/>
            <a:cxnLst/>
            <a:rect r="r" b="b" t="t" l="l"/>
            <a:pathLst>
              <a:path h="1989639" w="2617945">
                <a:moveTo>
                  <a:pt x="0" y="0"/>
                </a:moveTo>
                <a:lnTo>
                  <a:pt x="2617946" y="0"/>
                </a:lnTo>
                <a:lnTo>
                  <a:pt x="2617946" y="1989638"/>
                </a:lnTo>
                <a:lnTo>
                  <a:pt x="0" y="1989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206304" y="-200615"/>
            <a:ext cx="3244749" cy="2289023"/>
          </a:xfrm>
          <a:custGeom>
            <a:avLst/>
            <a:gdLst/>
            <a:ahLst/>
            <a:cxnLst/>
            <a:rect r="r" b="b" t="t" l="l"/>
            <a:pathLst>
              <a:path h="2289023" w="3244749">
                <a:moveTo>
                  <a:pt x="0" y="0"/>
                </a:moveTo>
                <a:lnTo>
                  <a:pt x="3244749" y="0"/>
                </a:lnTo>
                <a:lnTo>
                  <a:pt x="3244749" y="2289023"/>
                </a:lnTo>
                <a:lnTo>
                  <a:pt x="0" y="2289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484404">
            <a:off x="16113049" y="-652339"/>
            <a:ext cx="2056723" cy="2893088"/>
          </a:xfrm>
          <a:custGeom>
            <a:avLst/>
            <a:gdLst/>
            <a:ahLst/>
            <a:cxnLst/>
            <a:rect r="r" b="b" t="t" l="l"/>
            <a:pathLst>
              <a:path h="2893088" w="2056723">
                <a:moveTo>
                  <a:pt x="0" y="0"/>
                </a:moveTo>
                <a:lnTo>
                  <a:pt x="2056722" y="0"/>
                </a:lnTo>
                <a:lnTo>
                  <a:pt x="2056722"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1895" y="-133738"/>
            <a:ext cx="1762476" cy="2370078"/>
          </a:xfrm>
          <a:custGeom>
            <a:avLst/>
            <a:gdLst/>
            <a:ahLst/>
            <a:cxnLst/>
            <a:rect r="r" b="b" t="t" l="l"/>
            <a:pathLst>
              <a:path h="2370078" w="1762476">
                <a:moveTo>
                  <a:pt x="0" y="0"/>
                </a:moveTo>
                <a:lnTo>
                  <a:pt x="1762476" y="0"/>
                </a:lnTo>
                <a:lnTo>
                  <a:pt x="1762476" y="2370078"/>
                </a:lnTo>
                <a:lnTo>
                  <a:pt x="0" y="23700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6599664">
            <a:off x="5888814" y="-1386482"/>
            <a:ext cx="2604665" cy="3354954"/>
          </a:xfrm>
          <a:custGeom>
            <a:avLst/>
            <a:gdLst/>
            <a:ahLst/>
            <a:cxnLst/>
            <a:rect r="r" b="b" t="t" l="l"/>
            <a:pathLst>
              <a:path h="3354954" w="2604665">
                <a:moveTo>
                  <a:pt x="0" y="0"/>
                </a:moveTo>
                <a:lnTo>
                  <a:pt x="2604665" y="0"/>
                </a:lnTo>
                <a:lnTo>
                  <a:pt x="2604665" y="3354955"/>
                </a:lnTo>
                <a:lnTo>
                  <a:pt x="0" y="335495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35954">
            <a:off x="12915840" y="-1557050"/>
            <a:ext cx="1999490" cy="3425917"/>
          </a:xfrm>
          <a:custGeom>
            <a:avLst/>
            <a:gdLst/>
            <a:ahLst/>
            <a:cxnLst/>
            <a:rect r="r" b="b" t="t" l="l"/>
            <a:pathLst>
              <a:path h="3425917" w="1999490">
                <a:moveTo>
                  <a:pt x="0" y="0"/>
                </a:moveTo>
                <a:lnTo>
                  <a:pt x="1999490" y="0"/>
                </a:lnTo>
                <a:lnTo>
                  <a:pt x="1999490" y="3425917"/>
                </a:lnTo>
                <a:lnTo>
                  <a:pt x="0" y="3425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1791596">
            <a:off x="584944" y="7209817"/>
            <a:ext cx="1784158" cy="3395457"/>
          </a:xfrm>
          <a:custGeom>
            <a:avLst/>
            <a:gdLst/>
            <a:ahLst/>
            <a:cxnLst/>
            <a:rect r="r" b="b" t="t" l="l"/>
            <a:pathLst>
              <a:path h="3395457" w="1784158">
                <a:moveTo>
                  <a:pt x="0" y="0"/>
                </a:moveTo>
                <a:lnTo>
                  <a:pt x="1784159" y="0"/>
                </a:lnTo>
                <a:lnTo>
                  <a:pt x="1784159" y="3395457"/>
                </a:lnTo>
                <a:lnTo>
                  <a:pt x="0" y="339545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767621">
            <a:off x="10183694" y="8883549"/>
            <a:ext cx="1432877" cy="1533234"/>
          </a:xfrm>
          <a:custGeom>
            <a:avLst/>
            <a:gdLst/>
            <a:ahLst/>
            <a:cxnLst/>
            <a:rect r="r" b="b" t="t" l="l"/>
            <a:pathLst>
              <a:path h="1533234" w="1432877">
                <a:moveTo>
                  <a:pt x="0" y="0"/>
                </a:moveTo>
                <a:lnTo>
                  <a:pt x="1432877" y="0"/>
                </a:lnTo>
                <a:lnTo>
                  <a:pt x="1432877" y="1533234"/>
                </a:lnTo>
                <a:lnTo>
                  <a:pt x="0" y="153323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0">
            <a:off x="15443815" y="8001312"/>
            <a:ext cx="3936411" cy="2555088"/>
          </a:xfrm>
          <a:custGeom>
            <a:avLst/>
            <a:gdLst/>
            <a:ahLst/>
            <a:cxnLst/>
            <a:rect r="r" b="b" t="t" l="l"/>
            <a:pathLst>
              <a:path h="2555088" w="3936411">
                <a:moveTo>
                  <a:pt x="0" y="0"/>
                </a:moveTo>
                <a:lnTo>
                  <a:pt x="3936410" y="0"/>
                </a:lnTo>
                <a:lnTo>
                  <a:pt x="3936410" y="2555088"/>
                </a:lnTo>
                <a:lnTo>
                  <a:pt x="0" y="255508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2" id="12"/>
          <p:cNvSpPr/>
          <p:nvPr/>
        </p:nvSpPr>
        <p:spPr>
          <a:xfrm flipH="false" flipV="false" rot="0">
            <a:off x="9384550" y="-133738"/>
            <a:ext cx="2617945" cy="1989639"/>
          </a:xfrm>
          <a:custGeom>
            <a:avLst/>
            <a:gdLst/>
            <a:ahLst/>
            <a:cxnLst/>
            <a:rect r="r" b="b" t="t" l="l"/>
            <a:pathLst>
              <a:path h="1989639" w="2617945">
                <a:moveTo>
                  <a:pt x="0" y="0"/>
                </a:moveTo>
                <a:lnTo>
                  <a:pt x="2617945" y="0"/>
                </a:lnTo>
                <a:lnTo>
                  <a:pt x="2617945" y="1989639"/>
                </a:lnTo>
                <a:lnTo>
                  <a:pt x="0" y="1989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200210">
            <a:off x="12528147" y="8574041"/>
            <a:ext cx="1999490" cy="3425917"/>
          </a:xfrm>
          <a:custGeom>
            <a:avLst/>
            <a:gdLst/>
            <a:ahLst/>
            <a:cxnLst/>
            <a:rect r="r" b="b" t="t" l="l"/>
            <a:pathLst>
              <a:path h="3425917" w="1999490">
                <a:moveTo>
                  <a:pt x="0" y="0"/>
                </a:moveTo>
                <a:lnTo>
                  <a:pt x="1999490" y="0"/>
                </a:lnTo>
                <a:lnTo>
                  <a:pt x="1999490" y="3425918"/>
                </a:lnTo>
                <a:lnTo>
                  <a:pt x="0" y="3425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3484404">
            <a:off x="6997858" y="8823249"/>
            <a:ext cx="2056723" cy="2893088"/>
          </a:xfrm>
          <a:custGeom>
            <a:avLst/>
            <a:gdLst/>
            <a:ahLst/>
            <a:cxnLst/>
            <a:rect r="r" b="b" t="t" l="l"/>
            <a:pathLst>
              <a:path h="2893088" w="2056723">
                <a:moveTo>
                  <a:pt x="0" y="0"/>
                </a:moveTo>
                <a:lnTo>
                  <a:pt x="2056723" y="0"/>
                </a:lnTo>
                <a:lnTo>
                  <a:pt x="2056723" y="2893088"/>
                </a:lnTo>
                <a:lnTo>
                  <a:pt x="0" y="2893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758950" y="2937822"/>
            <a:ext cx="15992177" cy="6047740"/>
          </a:xfrm>
          <a:prstGeom prst="rect">
            <a:avLst/>
          </a:prstGeom>
        </p:spPr>
        <p:txBody>
          <a:bodyPr anchor="t" rtlCol="false" tIns="0" lIns="0" bIns="0" rIns="0">
            <a:spAutoFit/>
          </a:bodyPr>
          <a:lstStyle/>
          <a:p>
            <a:pPr algn="ctr">
              <a:lnSpc>
                <a:spcPts val="3919"/>
              </a:lnSpc>
              <a:spcBef>
                <a:spcPct val="0"/>
              </a:spcBef>
            </a:pPr>
          </a:p>
          <a:p>
            <a:pPr algn="l" marL="539751" indent="-269876" lvl="1">
              <a:lnSpc>
                <a:spcPts val="3500"/>
              </a:lnSpc>
              <a:spcBef>
                <a:spcPct val="0"/>
              </a:spcBef>
              <a:buAutoNum type="arabicPeriod" startAt="1"/>
            </a:pPr>
            <a:r>
              <a:rPr lang="en-US" sz="2500">
                <a:solidFill>
                  <a:srgbClr val="05061C"/>
                </a:solidFill>
                <a:latin typeface="Dumondi Condensed"/>
                <a:ea typeface="Dumondi Condensed"/>
                <a:cs typeface="Dumondi Condensed"/>
                <a:sym typeface="Dumondi Condensed"/>
              </a:rPr>
              <a:t>Se desarrolló un buscador semántico funcional capaz de trabajar con documentos propios en formatos TXT, MD, CSV, JSON y PDF, facilitando la localización de información sin depender únicamente de coincidencias exactas de palabras.</a:t>
            </a:r>
          </a:p>
          <a:p>
            <a:pPr algn="l" marL="539751" indent="-269876" lvl="1">
              <a:lnSpc>
                <a:spcPts val="3500"/>
              </a:lnSpc>
              <a:spcBef>
                <a:spcPct val="0"/>
              </a:spcBef>
              <a:buAutoNum type="arabicPeriod" startAt="1"/>
            </a:pPr>
            <a:r>
              <a:rPr lang="en-US" sz="2500">
                <a:solidFill>
                  <a:srgbClr val="05061C"/>
                </a:solidFill>
                <a:latin typeface="Dumondi Condensed"/>
                <a:ea typeface="Dumondi Condensed"/>
                <a:cs typeface="Dumondi Condensed"/>
                <a:sym typeface="Dumondi Condensed"/>
              </a:rPr>
              <a:t>La generación de embeddings permite realizar búsquedas basadas en significado. El texto de los documentos y las consultas del usuario se transforman en representaciones numéricas que posteriormente son comparadas mediante similitud coseno, permitiendo ordenar los resultados según su relevancia.</a:t>
            </a:r>
          </a:p>
          <a:p>
            <a:pPr algn="l" marL="539751" indent="-269876" lvl="1">
              <a:lnSpc>
                <a:spcPts val="3500"/>
              </a:lnSpc>
              <a:spcBef>
                <a:spcPct val="0"/>
              </a:spcBef>
              <a:buAutoNum type="arabicPeriod" startAt="1"/>
            </a:pPr>
            <a:r>
              <a:rPr lang="en-US" sz="2500">
                <a:solidFill>
                  <a:srgbClr val="05061C"/>
                </a:solidFill>
                <a:latin typeface="Dumondi Condensed"/>
                <a:ea typeface="Dumondi Condensed"/>
                <a:cs typeface="Dumondi Condensed"/>
                <a:sym typeface="Dumondi Condensed"/>
              </a:rPr>
              <a:t>El procesamiento se realiza localmente en el navegador, utilizando Transformers.js para ejecutar el modelo de embeddings. Esto permite desarrollar una solución que no requiere un backend ni una cuenta de usuario para realizar la inferencia.</a:t>
            </a:r>
          </a:p>
          <a:p>
            <a:pPr algn="l" marL="539751" indent="-269876" lvl="1">
              <a:lnSpc>
                <a:spcPts val="3500"/>
              </a:lnSpc>
              <a:spcBef>
                <a:spcPct val="0"/>
              </a:spcBef>
              <a:buAutoNum type="arabicPeriod" startAt="1"/>
            </a:pPr>
            <a:r>
              <a:rPr lang="en-US" sz="2500">
                <a:solidFill>
                  <a:srgbClr val="05061C"/>
                </a:solidFill>
                <a:latin typeface="Dumondi Condensed"/>
                <a:ea typeface="Dumondi Condensed"/>
                <a:cs typeface="Dumondi Condensed"/>
                <a:sym typeface="Dumondi Condensed"/>
              </a:rPr>
              <a:t>La programación modular facilita el mantenimiento del sistema. La separación entre documentos.mjs, embeddings.mjs, buscador.mjs, interfaz.mjs, eventos.mjs y almacenamiento.mjs permite que cada componente tenga una responsabilidad específica y que puedan realizarse mejoras sin modificar todo el proyecto.</a:t>
            </a:r>
          </a:p>
          <a:p>
            <a:pPr algn="l" marL="539751" indent="-269876" lvl="1">
              <a:lnSpc>
                <a:spcPts val="3500"/>
              </a:lnSpc>
              <a:spcBef>
                <a:spcPct val="0"/>
              </a:spcBef>
              <a:buAutoNum type="arabicPeriod" startAt="1"/>
            </a:pPr>
            <a:r>
              <a:rPr lang="en-US" sz="2500">
                <a:solidFill>
                  <a:srgbClr val="05061C"/>
                </a:solidFill>
                <a:latin typeface="Dumondi Condensed"/>
                <a:ea typeface="Dumondi Condensed"/>
                <a:cs typeface="Dumondi Condensed"/>
                <a:sym typeface="Dumondi Condensed"/>
              </a:rPr>
              <a:t>Se tuvieron en cuenta aspectos de seguridad y rendimiento. El uso de textContent y manipulación segura del DOM ayuda a reducir riesgos de XSS, mientras que async/await permite gestionar procesos como la carga del modelo y generación de embeddings sin bloquear completamente el flujo de la aplicación.</a:t>
            </a:r>
          </a:p>
          <a:p>
            <a:pPr algn="ctr">
              <a:lnSpc>
                <a:spcPts val="3919"/>
              </a:lnSpc>
              <a:spcBef>
                <a:spcPct val="0"/>
              </a:spcBef>
            </a:pPr>
          </a:p>
          <a:p>
            <a:pPr algn="ctr">
              <a:lnSpc>
                <a:spcPts val="559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DAHVOrOAmec</dc:identifier>
  <dcterms:modified xsi:type="dcterms:W3CDTF">2011-08-01T06:04:30Z</dcterms:modified>
  <cp:revision>1</cp:revision>
  <dc:title>Buscador semántico sobre textos propios, generando los embeddings localmente, sin backend ni cuenta.</dc:title>
</cp:coreProperties>
</file>